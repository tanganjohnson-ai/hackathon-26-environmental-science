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7432000" cy="41148000"/>
  <p:notesSz cx="41148000" cy="2743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B3C15"/>
    <a:srgbClr val="55661A"/>
    <a:srgbClr val="DACB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08"/>
    <p:restoredTop sz="95706" autoAdjust="0"/>
  </p:normalViewPr>
  <p:slideViewPr>
    <p:cSldViewPr snapToGrid="0" snapToObjects="1">
      <p:cViewPr>
        <p:scale>
          <a:sx n="30" d="100"/>
          <a:sy n="30" d="100"/>
        </p:scale>
        <p:origin x="716" y="-7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GANIKA JOHNSON" userId="3c0a1afa-6abb-4a35-8c4c-3ca05b9eccb2" providerId="ADAL" clId="{FB058C0E-EBFF-4715-AFDE-5BB9604E1C74}"/>
    <pc:docChg chg="custSel modSld">
      <pc:chgData name="TANGANIKA JOHNSON" userId="3c0a1afa-6abb-4a35-8c4c-3ca05b9eccb2" providerId="ADAL" clId="{FB058C0E-EBFF-4715-AFDE-5BB9604E1C74}" dt="2026-09-21T00:55:43.441" v="21" actId="21"/>
      <pc:docMkLst>
        <pc:docMk/>
      </pc:docMkLst>
      <pc:sldChg chg="addSp delSp modSp mod">
        <pc:chgData name="TANGANIKA JOHNSON" userId="3c0a1afa-6abb-4a35-8c4c-3ca05b9eccb2" providerId="ADAL" clId="{FB058C0E-EBFF-4715-AFDE-5BB9604E1C74}" dt="2026-09-21T00:55:43.441" v="21" actId="21"/>
        <pc:sldMkLst>
          <pc:docMk/>
          <pc:sldMk cId="0" sldId="256"/>
        </pc:sldMkLst>
        <pc:spChg chg="del">
          <ac:chgData name="TANGANIKA JOHNSON" userId="3c0a1afa-6abb-4a35-8c4c-3ca05b9eccb2" providerId="ADAL" clId="{FB058C0E-EBFF-4715-AFDE-5BB9604E1C74}" dt="2026-09-21T00:49:30.486" v="1" actId="21"/>
          <ac:spMkLst>
            <pc:docMk/>
            <pc:sldMk cId="0" sldId="256"/>
            <ac:spMk id="83" creationId="{00000000-0000-0000-0000-000000000000}"/>
          </ac:spMkLst>
        </pc:spChg>
        <pc:spChg chg="mod">
          <ac:chgData name="TANGANIKA JOHNSON" userId="3c0a1afa-6abb-4a35-8c4c-3ca05b9eccb2" providerId="ADAL" clId="{FB058C0E-EBFF-4715-AFDE-5BB9604E1C74}" dt="2026-09-21T00:55:33.912" v="20" actId="20577"/>
          <ac:spMkLst>
            <pc:docMk/>
            <pc:sldMk cId="0" sldId="256"/>
            <ac:spMk id="113" creationId="{C745A4E6-144E-2D3E-AD4D-D2F76412F4A7}"/>
          </ac:spMkLst>
        </pc:spChg>
        <pc:picChg chg="add del mod">
          <ac:chgData name="TANGANIKA JOHNSON" userId="3c0a1afa-6abb-4a35-8c4c-3ca05b9eccb2" providerId="ADAL" clId="{FB058C0E-EBFF-4715-AFDE-5BB9604E1C74}" dt="2026-09-21T00:55:43.441" v="21" actId="21"/>
          <ac:picMkLst>
            <pc:docMk/>
            <pc:sldMk cId="0" sldId="256"/>
            <ac:picMk id="10" creationId="{5678B639-9CFB-F112-D7A0-AAED2484D874}"/>
          </ac:picMkLst>
        </pc:picChg>
        <pc:picChg chg="add mod">
          <ac:chgData name="TANGANIKA JOHNSON" userId="3c0a1afa-6abb-4a35-8c4c-3ca05b9eccb2" providerId="ADAL" clId="{FB058C0E-EBFF-4715-AFDE-5BB9604E1C74}" dt="2026-09-21T00:55:00.436" v="15" actId="14100"/>
          <ac:picMkLst>
            <pc:docMk/>
            <pc:sldMk cId="0" sldId="256"/>
            <ac:picMk id="20" creationId="{E94A103A-E2B0-7578-359C-10021269DD0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2042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FacultyHack@Gateways 2026 poster template. Print size: 30 in wide x 45 in tall (portrait), within the Gateways 2026 conference max of 30in x 45in. Structure follows the actual format used by FacultyHack@Gateways 2025 participants: Abstract, Introduction, Course Goals, Grade Computation, Mentor Feedback Incorporated, Target Course Description, Key Content by Week, Science Gateway/HPC/AI Resources Used, Final Project/Deliverable, Project Goals, Expansion Ideas, References, Impact on User Community, Lessons Learned, a Before &amp; After syllabus comparison, and an Authors &amp; Mentors credit block. Every section has a short italic caption under its header describing what belongs there. Colors are the official brand palette from hackhpc.github.io/facultyhack-gateways26/resources. The footer QR code is a real, working code that links to the FacultyHack@Gateways 2026 event site — no need to regenerate it. Replace all [bracketed] placeholder text and swap the 'FH' circle for the official FacultyHack26_logo (PNG/SVG) from the resources page. The Abstract section on the poster should hold the same text submitted to the conference portal (up to 500 words, no 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jp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27432000" cy="4297680"/>
          </a:xfrm>
          <a:prstGeom prst="rect">
            <a:avLst/>
          </a:prstGeom>
          <a:solidFill>
            <a:srgbClr val="55661A"/>
          </a:solidFill>
          <a:ln/>
        </p:spPr>
        <p:txBody>
          <a:bodyPr/>
          <a:lstStyle/>
          <a:p>
            <a:endParaRPr lang="en-US" dirty="0"/>
          </a:p>
        </p:txBody>
      </p:sp>
      <p:sp>
        <p:nvSpPr>
          <p:cNvPr id="6" name="Text 4"/>
          <p:cNvSpPr/>
          <p:nvPr/>
        </p:nvSpPr>
        <p:spPr>
          <a:xfrm>
            <a:off x="5762170" y="654652"/>
            <a:ext cx="19884573" cy="2706682"/>
          </a:xfrm>
          <a:prstGeom prst="rect">
            <a:avLst/>
          </a:prstGeom>
          <a:noFill/>
          <a:ln/>
        </p:spPr>
        <p:txBody>
          <a:bodyPr wrap="square" lIns="0" tIns="0" rIns="0" bIns="0" rtlCol="0" anchor="ctr" anchorCtr="0"/>
          <a:lstStyle/>
          <a:p>
            <a:pPr marL="0" indent="0" algn="l">
              <a:lnSpc>
                <a:spcPct val="106000"/>
              </a:lnSpc>
              <a:buNone/>
            </a:pPr>
            <a:r>
              <a:rPr lang="en-US" sz="5400" b="1">
                <a:solidFill>
                  <a:srgbClr val="FFFFFF"/>
                </a:solidFill>
                <a:latin typeface="Cambria" pitchFamily="34" charset="0"/>
                <a:ea typeface="Cambria" pitchFamily="34" charset="-122"/>
                <a:cs typeface="Cambria" pitchFamily="34" charset="-120"/>
              </a:rPr>
              <a:t>Mapping </a:t>
            </a:r>
            <a:r>
              <a:rPr lang="en-US" sz="5400" b="1" dirty="0">
                <a:solidFill>
                  <a:srgbClr val="FFFFFF"/>
                </a:solidFill>
                <a:latin typeface="Cambria" pitchFamily="34" charset="0"/>
                <a:ea typeface="Cambria" pitchFamily="34" charset="-122"/>
                <a:cs typeface="Cambria" pitchFamily="34" charset="-120"/>
              </a:rPr>
              <a:t>Urban Heat &amp; Environmental Resilience with Science Gateways from the Bluff to the Bayou</a:t>
            </a:r>
            <a:endParaRPr lang="en-US" sz="5400" dirty="0"/>
          </a:p>
        </p:txBody>
      </p:sp>
      <p:sp>
        <p:nvSpPr>
          <p:cNvPr id="7" name="Text 5"/>
          <p:cNvSpPr/>
          <p:nvPr/>
        </p:nvSpPr>
        <p:spPr>
          <a:xfrm>
            <a:off x="333828" y="3502152"/>
            <a:ext cx="23774400" cy="548640"/>
          </a:xfrm>
          <a:prstGeom prst="rect">
            <a:avLst/>
          </a:prstGeom>
          <a:noFill/>
          <a:ln/>
        </p:spPr>
        <p:txBody>
          <a:bodyPr wrap="square" lIns="0" tIns="0" rIns="0" bIns="0" rtlCol="0" anchor="t"/>
          <a:lstStyle/>
          <a:p>
            <a:pPr marL="0" indent="0" algn="l">
              <a:buNone/>
            </a:pPr>
            <a:r>
              <a:rPr lang="en-US" sz="1800" dirty="0">
                <a:solidFill>
                  <a:srgbClr val="D9CBB0"/>
                </a:solidFill>
                <a:latin typeface="Calibri" pitchFamily="34" charset="0"/>
                <a:ea typeface="Calibri" pitchFamily="34" charset="-122"/>
                <a:cs typeface="Calibri" pitchFamily="34" charset="-120"/>
              </a:rPr>
              <a:t>[Presenter Name] · [Institution]  —  [Course Prefix &amp; Number]  —  FacultyHack@Gateways 2026</a:t>
            </a:r>
            <a:endParaRPr lang="en-US" sz="1800" dirty="0"/>
          </a:p>
        </p:txBody>
      </p:sp>
      <p:sp>
        <p:nvSpPr>
          <p:cNvPr id="8" name="Shape 6"/>
          <p:cNvSpPr/>
          <p:nvPr/>
        </p:nvSpPr>
        <p:spPr>
          <a:xfrm>
            <a:off x="914400" y="4553712"/>
            <a:ext cx="365760" cy="365760"/>
          </a:xfrm>
          <a:prstGeom prst="rect">
            <a:avLst/>
          </a:prstGeom>
          <a:solidFill>
            <a:srgbClr val="6E7D1F"/>
          </a:solidFill>
          <a:ln/>
        </p:spPr>
        <p:txBody>
          <a:bodyPr/>
          <a:lstStyle/>
          <a:p>
            <a:endParaRPr lang="en-US"/>
          </a:p>
        </p:txBody>
      </p:sp>
      <p:sp>
        <p:nvSpPr>
          <p:cNvPr id="9" name="Text 7"/>
          <p:cNvSpPr/>
          <p:nvPr/>
        </p:nvSpPr>
        <p:spPr>
          <a:xfrm>
            <a:off x="1508760" y="4480560"/>
            <a:ext cx="25008840" cy="548640"/>
          </a:xfrm>
          <a:prstGeom prst="rect">
            <a:avLst/>
          </a:prstGeom>
          <a:noFill/>
          <a:ln/>
        </p:spPr>
        <p:txBody>
          <a:bodyPr wrap="square" lIns="0" tIns="0" rIns="0" bIns="0" rtlCol="0" anchor="t"/>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ABSTRACT</a:t>
            </a:r>
            <a:endParaRPr lang="en-US" sz="2700" dirty="0"/>
          </a:p>
        </p:txBody>
      </p:sp>
      <p:sp>
        <p:nvSpPr>
          <p:cNvPr id="11" name="Shape 9"/>
          <p:cNvSpPr/>
          <p:nvPr/>
        </p:nvSpPr>
        <p:spPr>
          <a:xfrm>
            <a:off x="914400" y="5029199"/>
            <a:ext cx="25603200" cy="3217629"/>
          </a:xfrm>
          <a:prstGeom prst="roundRect">
            <a:avLst>
              <a:gd name="adj" fmla="val 4762"/>
            </a:avLst>
          </a:prstGeom>
          <a:solidFill>
            <a:srgbClr val="F1ECE0"/>
          </a:solidFill>
          <a:ln w="15875">
            <a:solidFill>
              <a:srgbClr val="E4DCCB"/>
            </a:solidFill>
            <a:prstDash val="dash"/>
          </a:ln>
        </p:spPr>
        <p:txBody>
          <a:bodyPr/>
          <a:lstStyle/>
          <a:p>
            <a:r>
              <a:rPr lang="en-US" sz="2000" dirty="0">
                <a:latin typeface="Cambria" panose="02040503050406030204" pitchFamily="18" charset="0"/>
                <a:ea typeface="Cambria" panose="02040503050406030204" pitchFamily="18" charset="0"/>
                <a:cs typeface="Times New Roman" panose="02020603050405020304" pitchFamily="18" charset="0"/>
              </a:rPr>
              <a:t>UFOR 271 Environmental Science is a gateway- and AI-enhanced Course-Based Undergraduate Research Experience (CURE) that engages undergraduates in investigating environmental resilience across South Louisiana communities. Students move through a four-stage research arc data discovery, visualization, analysis, and interpretation using browser-based Jupyter notebooks hosted on ACCESS </a:t>
            </a:r>
            <a:r>
              <a:rPr lang="en-US" sz="2000" dirty="0" err="1">
                <a:latin typeface="Cambria" panose="02040503050406030204" pitchFamily="18" charset="0"/>
                <a:ea typeface="Cambria" panose="02040503050406030204" pitchFamily="18" charset="0"/>
                <a:cs typeface="Times New Roman" panose="02020603050405020304" pitchFamily="18" charset="0"/>
              </a:rPr>
              <a:t>CloudBank</a:t>
            </a:r>
            <a:r>
              <a:rPr lang="en-US" sz="2000" dirty="0">
                <a:latin typeface="Cambria" panose="02040503050406030204" pitchFamily="18" charset="0"/>
                <a:ea typeface="Cambria" panose="02040503050406030204" pitchFamily="18" charset="0"/>
                <a:cs typeface="Times New Roman" panose="02020603050405020304" pitchFamily="18" charset="0"/>
              </a:rPr>
              <a:t> Classroom, together with open science gateways (</a:t>
            </a:r>
            <a:r>
              <a:rPr lang="en-US" sz="2000" dirty="0" err="1">
                <a:latin typeface="Cambria" panose="02040503050406030204" pitchFamily="18" charset="0"/>
                <a:ea typeface="Cambria" panose="02040503050406030204" pitchFamily="18" charset="0"/>
                <a:cs typeface="Times New Roman" panose="02020603050405020304" pitchFamily="18" charset="0"/>
              </a:rPr>
              <a:t>OpenTopography</a:t>
            </a:r>
            <a:r>
              <a:rPr lang="en-US" sz="2000" dirty="0">
                <a:latin typeface="Cambria" panose="02040503050406030204" pitchFamily="18" charset="0"/>
                <a:ea typeface="Cambria" panose="02040503050406030204" pitchFamily="18" charset="0"/>
                <a:cs typeface="Times New Roman" panose="02020603050405020304" pitchFamily="18" charset="0"/>
              </a:rPr>
              <a:t>, iNaturalist, EPA </a:t>
            </a:r>
            <a:r>
              <a:rPr lang="en-US" sz="2000" dirty="0" err="1">
                <a:latin typeface="Cambria" panose="02040503050406030204" pitchFamily="18" charset="0"/>
                <a:ea typeface="Cambria" panose="02040503050406030204" pitchFamily="18" charset="0"/>
                <a:cs typeface="Times New Roman" panose="02020603050405020304" pitchFamily="18" charset="0"/>
              </a:rPr>
              <a:t>EnviroAtlas</a:t>
            </a:r>
            <a:r>
              <a:rPr lang="en-US" sz="2000" dirty="0">
                <a:latin typeface="Cambria" panose="02040503050406030204" pitchFamily="18" charset="0"/>
                <a:ea typeface="Cambria" panose="02040503050406030204" pitchFamily="18" charset="0"/>
                <a:cs typeface="Times New Roman" panose="02020603050405020304" pitchFamily="18" charset="0"/>
              </a:rPr>
              <a:t>) and interactive mapping tools (</a:t>
            </a:r>
            <a:r>
              <a:rPr lang="en-US" sz="2000" dirty="0" err="1">
                <a:latin typeface="Cambria" panose="02040503050406030204" pitchFamily="18" charset="0"/>
                <a:ea typeface="Cambria" panose="02040503050406030204" pitchFamily="18" charset="0"/>
                <a:cs typeface="Times New Roman" panose="02020603050405020304" pitchFamily="18" charset="0"/>
              </a:rPr>
              <a:t>geemap</a:t>
            </a:r>
            <a:r>
              <a:rPr lang="en-US" sz="2000" dirty="0">
                <a:latin typeface="Cambria" panose="02040503050406030204" pitchFamily="18" charset="0"/>
                <a:ea typeface="Cambria" panose="02040503050406030204" pitchFamily="18" charset="0"/>
                <a:cs typeface="Times New Roman" panose="02020603050405020304" pitchFamily="18" charset="0"/>
              </a:rPr>
              <a:t> / </a:t>
            </a:r>
            <a:r>
              <a:rPr lang="en-US" sz="2000" dirty="0" err="1">
                <a:latin typeface="Cambria" panose="02040503050406030204" pitchFamily="18" charset="0"/>
                <a:ea typeface="Cambria" panose="02040503050406030204" pitchFamily="18" charset="0"/>
                <a:cs typeface="Times New Roman" panose="02020603050405020304" pitchFamily="18" charset="0"/>
              </a:rPr>
              <a:t>leafmap</a:t>
            </a:r>
            <a:r>
              <a:rPr lang="en-US" sz="2000" dirty="0">
                <a:latin typeface="Cambria" panose="02040503050406030204" pitchFamily="18" charset="0"/>
                <a:ea typeface="Cambria" panose="02040503050406030204" pitchFamily="18" charset="0"/>
                <a:cs typeface="Times New Roman" panose="02020603050405020304" pitchFamily="18" charset="0"/>
              </a:rPr>
              <a:t>). Artificial intelligence is integrated deliberately and transparently: a tiered AI-use policy (prohibited / limited / permitted) matched to specific tasks, mandatory disclosure and verification, and summative assessments redesigned around authentic process to preserve integrity. High-performance computing is introduced at an introductory, hands-on level only where the data genuinely warrants it, keeping the focus on student learning rather than technology. The course removes local-setup barriers, ensures equitable access for all students at this Historically Black University, and builds transferable data-literacy, computational-thinking, and responsible-AI skills while addressing real community and environmental-justice questions.</a:t>
            </a:r>
          </a:p>
          <a:p>
            <a:r>
              <a:rPr lang="en-US" sz="2000" dirty="0">
                <a:latin typeface="Cambria" panose="02040503050406030204" pitchFamily="18" charset="0"/>
                <a:ea typeface="Cambria" panose="02040503050406030204" pitchFamily="18" charset="0"/>
                <a:cs typeface="Times New Roman" panose="02020603050405020304" pitchFamily="18" charset="0"/>
              </a:rPr>
              <a:t>Southern University and A&amp;M College requests </a:t>
            </a:r>
            <a:r>
              <a:rPr lang="en-US" sz="2000" dirty="0" err="1">
                <a:latin typeface="Cambria" panose="02040503050406030204" pitchFamily="18" charset="0"/>
                <a:ea typeface="Cambria" panose="02040503050406030204" pitchFamily="18" charset="0"/>
                <a:cs typeface="Times New Roman" panose="02020603050405020304" pitchFamily="18" charset="0"/>
              </a:rPr>
              <a:t>CloudBank</a:t>
            </a:r>
            <a:r>
              <a:rPr lang="en-US" sz="2000" dirty="0">
                <a:latin typeface="Cambria" panose="02040503050406030204" pitchFamily="18" charset="0"/>
                <a:ea typeface="Cambria" panose="02040503050406030204" pitchFamily="18" charset="0"/>
                <a:cs typeface="Times New Roman" panose="02020603050405020304" pitchFamily="18" charset="0"/>
              </a:rPr>
              <a:t> Classroom to support UFOR 271 Environmental Science (Fall/Spring). The course engages undergraduates in a semester-long Course-based Undergraduate Research Experience investigating environmental resilience in South Louisiana communities. Using browser-based Jupyter notebooks, 10–15 students will access authentic geospatial and environmental datasets to visualize, analyze, and interpret local environmental patterns, building data literacy and computational skills while addressing real community and environmental-justice questions. The managed environment removes local-setup barriers and ensures equitable access for students at this HBCU..</a:t>
            </a:r>
          </a:p>
        </p:txBody>
      </p:sp>
      <p:sp>
        <p:nvSpPr>
          <p:cNvPr id="12" name="Text 10"/>
          <p:cNvSpPr/>
          <p:nvPr/>
        </p:nvSpPr>
        <p:spPr>
          <a:xfrm>
            <a:off x="1188720" y="5458968"/>
            <a:ext cx="25054560" cy="1920240"/>
          </a:xfrm>
          <a:prstGeom prst="rect">
            <a:avLst/>
          </a:prstGeom>
          <a:noFill/>
          <a:ln/>
        </p:spPr>
        <p:txBody>
          <a:bodyPr wrap="square" lIns="0" tIns="0" rIns="0" bIns="0" rtlCol="0" anchor="ctr"/>
          <a:lstStyle/>
          <a:p>
            <a:pPr marL="0" indent="0">
              <a:buNone/>
            </a:pPr>
            <a:endParaRPr lang="en-US" sz="1600" dirty="0"/>
          </a:p>
        </p:txBody>
      </p:sp>
      <p:sp>
        <p:nvSpPr>
          <p:cNvPr id="13" name="Shape 11"/>
          <p:cNvSpPr/>
          <p:nvPr/>
        </p:nvSpPr>
        <p:spPr>
          <a:xfrm>
            <a:off x="914400" y="8298180"/>
            <a:ext cx="365760" cy="365760"/>
          </a:xfrm>
          <a:prstGeom prst="rect">
            <a:avLst/>
          </a:prstGeom>
          <a:solidFill>
            <a:srgbClr val="6E7D1F"/>
          </a:solidFill>
          <a:ln/>
        </p:spPr>
        <p:txBody>
          <a:bodyPr/>
          <a:lstStyle/>
          <a:p>
            <a:endParaRPr lang="en-US"/>
          </a:p>
        </p:txBody>
      </p:sp>
      <p:sp>
        <p:nvSpPr>
          <p:cNvPr id="14" name="Text 12"/>
          <p:cNvSpPr/>
          <p:nvPr/>
        </p:nvSpPr>
        <p:spPr>
          <a:xfrm>
            <a:off x="1508760" y="8225028"/>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INTRODUCTION</a:t>
            </a:r>
            <a:endParaRPr lang="en-US" sz="2700" dirty="0"/>
          </a:p>
        </p:txBody>
      </p:sp>
      <p:sp>
        <p:nvSpPr>
          <p:cNvPr id="17" name="Text 15"/>
          <p:cNvSpPr/>
          <p:nvPr/>
        </p:nvSpPr>
        <p:spPr>
          <a:xfrm>
            <a:off x="914400" y="10540449"/>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mbria" panose="02040503050406030204" pitchFamily="18" charset="0"/>
                <a:ea typeface="Cambria" panose="02040503050406030204" pitchFamily="18" charset="0"/>
                <a:cs typeface="Calibri" pitchFamily="34" charset="-120"/>
              </a:rPr>
              <a:t>Course Goals</a:t>
            </a:r>
            <a:endParaRPr lang="en-US" sz="2100" dirty="0">
              <a:solidFill>
                <a:schemeClr val="bg1"/>
              </a:solidFill>
              <a:latin typeface="Cambria" panose="02040503050406030204" pitchFamily="18" charset="0"/>
              <a:ea typeface="Cambria" panose="02040503050406030204" pitchFamily="18" charset="0"/>
            </a:endParaRPr>
          </a:p>
        </p:txBody>
      </p:sp>
      <p:sp>
        <p:nvSpPr>
          <p:cNvPr id="18" name="Text 16"/>
          <p:cNvSpPr/>
          <p:nvPr/>
        </p:nvSpPr>
        <p:spPr>
          <a:xfrm>
            <a:off x="869884" y="11117970"/>
            <a:ext cx="8229600" cy="2544651"/>
          </a:xfrm>
          <a:prstGeom prst="rect">
            <a:avLst/>
          </a:prstGeom>
          <a:noFill/>
          <a:ln/>
        </p:spPr>
        <p:txBody>
          <a:bodyPr wrap="square" lIns="0" tIns="0" rIns="0" bIns="0" rtlCol="0" anchor="t"/>
          <a:lstStyle/>
          <a:p>
            <a:pPr marL="285750" lvl="0" indent="-285750">
              <a:buFont typeface="Arial" panose="020B0604020202020204" pitchFamily="34" charset="0"/>
              <a:buChar char="•"/>
            </a:pPr>
            <a:r>
              <a:rPr lang="en-US" b="1" dirty="0">
                <a:latin typeface="Cambria" panose="02040503050406030204" pitchFamily="18" charset="0"/>
                <a:ea typeface="Cambria" panose="02040503050406030204" pitchFamily="18" charset="0"/>
                <a:cs typeface="Times New Roman" panose="02020603050405020304" pitchFamily="18" charset="0"/>
              </a:rPr>
              <a:t>Disciplinary: </a:t>
            </a:r>
            <a:r>
              <a:rPr lang="en-US" dirty="0">
                <a:latin typeface="Cambria" panose="02040503050406030204" pitchFamily="18" charset="0"/>
                <a:ea typeface="Cambria" panose="02040503050406030204" pitchFamily="18" charset="0"/>
                <a:cs typeface="Times New Roman" panose="02020603050405020304" pitchFamily="18" charset="0"/>
              </a:rPr>
              <a:t>Collect, document, manage, visualize, and interpret environmental field and secondary data.</a:t>
            </a:r>
          </a:p>
          <a:p>
            <a:pPr marL="285750" lvl="0" indent="-285750">
              <a:buFont typeface="Arial" panose="020B0604020202020204" pitchFamily="34" charset="0"/>
              <a:buChar char="•"/>
            </a:pPr>
            <a:r>
              <a:rPr lang="en-US" b="1" dirty="0">
                <a:latin typeface="Cambria" panose="02040503050406030204" pitchFamily="18" charset="0"/>
                <a:ea typeface="Cambria" panose="02040503050406030204" pitchFamily="18" charset="0"/>
                <a:cs typeface="Times New Roman" panose="02020603050405020304" pitchFamily="18" charset="0"/>
              </a:rPr>
              <a:t>Skill Development: </a:t>
            </a:r>
            <a:r>
              <a:rPr lang="en-US" dirty="0">
                <a:latin typeface="Cambria" panose="02040503050406030204" pitchFamily="18" charset="0"/>
                <a:ea typeface="Cambria" panose="02040503050406030204" pitchFamily="18" charset="0"/>
                <a:cs typeface="Times New Roman" panose="02020603050405020304" pitchFamily="18" charset="0"/>
              </a:rPr>
              <a:t>Design and conduct collaborative environmental research using responsible and reproducible practices.</a:t>
            </a:r>
          </a:p>
          <a:p>
            <a:pPr marL="285750" lvl="0" indent="-285750">
              <a:buFont typeface="Arial" panose="020B0604020202020204" pitchFamily="34" charset="0"/>
              <a:buChar char="•"/>
            </a:pPr>
            <a:r>
              <a:rPr lang="en-US" b="1" dirty="0">
                <a:latin typeface="Cambria" panose="02040503050406030204" pitchFamily="18" charset="0"/>
                <a:ea typeface="Cambria" panose="02040503050406030204" pitchFamily="18" charset="0"/>
                <a:cs typeface="Times New Roman" panose="02020603050405020304" pitchFamily="18" charset="0"/>
              </a:rPr>
              <a:t>Professional Practice: </a:t>
            </a:r>
            <a:r>
              <a:rPr lang="en-US" dirty="0">
                <a:latin typeface="Cambria" panose="02040503050406030204" pitchFamily="18" charset="0"/>
                <a:ea typeface="Cambria" panose="02040503050406030204" pitchFamily="18" charset="0"/>
                <a:cs typeface="Times New Roman" panose="02020603050405020304" pitchFamily="18" charset="0"/>
              </a:rPr>
              <a:t>Evaluate environmental hazards and apply environmental ethics, economics, laws, policies, and equity considerations to authentic decisions.</a:t>
            </a:r>
          </a:p>
          <a:p>
            <a:pPr marL="285750" lvl="0" indent="-285750">
              <a:buFont typeface="Arial" panose="020B0604020202020204" pitchFamily="34" charset="0"/>
              <a:buChar char="•"/>
            </a:pPr>
            <a:r>
              <a:rPr lang="en-US" b="1" dirty="0">
                <a:latin typeface="Cambria" panose="02040503050406030204" pitchFamily="18" charset="0"/>
                <a:ea typeface="Cambria" panose="02040503050406030204" pitchFamily="18" charset="0"/>
                <a:cs typeface="Times New Roman" panose="02020603050405020304" pitchFamily="18" charset="0"/>
              </a:rPr>
              <a:t>Gateway/HPC/AI Goal: </a:t>
            </a:r>
            <a:r>
              <a:rPr lang="en-US" dirty="0">
                <a:latin typeface="Cambria" panose="02040503050406030204" pitchFamily="18" charset="0"/>
                <a:ea typeface="Cambria" panose="02040503050406030204" pitchFamily="18" charset="0"/>
                <a:cs typeface="Times New Roman" panose="02020603050405020304" pitchFamily="18" charset="0"/>
              </a:rPr>
              <a:t>Use browser-based science gateways and Jupyter notebooks, develop foundational HPC vocabulary, and apply AI responsibly through verification, disclosure, and appropriate limitations.</a:t>
            </a:r>
          </a:p>
        </p:txBody>
      </p:sp>
      <p:sp>
        <p:nvSpPr>
          <p:cNvPr id="19" name="Text 17"/>
          <p:cNvSpPr/>
          <p:nvPr/>
        </p:nvSpPr>
        <p:spPr>
          <a:xfrm>
            <a:off x="914400" y="13933527"/>
            <a:ext cx="8229600" cy="34917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mbria" panose="02040503050406030204" pitchFamily="18" charset="0"/>
                <a:ea typeface="Cambria" panose="02040503050406030204" pitchFamily="18" charset="0"/>
                <a:cs typeface="Calibri" pitchFamily="34" charset="-120"/>
              </a:rPr>
              <a:t>Grade Computation</a:t>
            </a:r>
            <a:endParaRPr lang="en-US" sz="2100" dirty="0">
              <a:solidFill>
                <a:schemeClr val="bg1"/>
              </a:solidFill>
              <a:latin typeface="Cambria" panose="02040503050406030204" pitchFamily="18" charset="0"/>
              <a:ea typeface="Cambria" panose="02040503050406030204" pitchFamily="18" charset="0"/>
            </a:endParaRPr>
          </a:p>
        </p:txBody>
      </p:sp>
      <p:sp>
        <p:nvSpPr>
          <p:cNvPr id="21" name="Text 18"/>
          <p:cNvSpPr/>
          <p:nvPr/>
        </p:nvSpPr>
        <p:spPr>
          <a:xfrm>
            <a:off x="940238" y="16962267"/>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mbria" panose="02040503050406030204" pitchFamily="18" charset="0"/>
                <a:ea typeface="Cambria" panose="02040503050406030204" pitchFamily="18" charset="0"/>
                <a:cs typeface="Calibri" pitchFamily="34" charset="-120"/>
              </a:rPr>
              <a:t>Mentor Feedback Incorporated</a:t>
            </a:r>
            <a:endParaRPr lang="en-US" sz="2100" dirty="0">
              <a:solidFill>
                <a:schemeClr val="bg1"/>
              </a:solidFill>
              <a:latin typeface="Cambria" panose="02040503050406030204" pitchFamily="18" charset="0"/>
              <a:ea typeface="Cambria" panose="02040503050406030204" pitchFamily="18" charset="0"/>
            </a:endParaRPr>
          </a:p>
        </p:txBody>
      </p:sp>
      <p:sp>
        <p:nvSpPr>
          <p:cNvPr id="22" name="Text 19"/>
          <p:cNvSpPr/>
          <p:nvPr/>
        </p:nvSpPr>
        <p:spPr>
          <a:xfrm>
            <a:off x="914400" y="17445343"/>
            <a:ext cx="8229600" cy="3530194"/>
          </a:xfrm>
          <a:prstGeom prst="rect">
            <a:avLst/>
          </a:prstGeom>
          <a:noFill/>
          <a:ln/>
        </p:spPr>
        <p:txBody>
          <a:bodyPr wrap="square" lIns="0" tIns="0" rIns="0" bIns="0" rtlCol="0" anchor="t"/>
          <a:lstStyle/>
          <a:p>
            <a:pPr marL="285750" indent="-285750">
              <a:lnSpc>
                <a:spcPct val="122000"/>
              </a:lnSpc>
              <a:spcAft>
                <a:spcPts val="800"/>
              </a:spcAft>
              <a:buSzPct val="100000"/>
              <a:buFont typeface="Arial" panose="020B0604020202020204" pitchFamily="34" charset="0"/>
              <a:buChar char="•"/>
            </a:pPr>
            <a:r>
              <a:rPr lang="en-US" b="1" dirty="0" err="1">
                <a:latin typeface="Cambria" panose="02040503050406030204" pitchFamily="18" charset="0"/>
                <a:ea typeface="Cambria" panose="02040503050406030204" pitchFamily="18" charset="0"/>
                <a:cs typeface="Times New Roman" panose="02020603050405020304" pitchFamily="18" charset="0"/>
              </a:rPr>
              <a:t>CloudBank</a:t>
            </a:r>
            <a:r>
              <a:rPr lang="en-US" b="1" dirty="0">
                <a:latin typeface="Cambria" panose="02040503050406030204" pitchFamily="18" charset="0"/>
                <a:ea typeface="Cambria" panose="02040503050406030204" pitchFamily="18" charset="0"/>
                <a:cs typeface="Times New Roman" panose="02020603050405020304" pitchFamily="18" charset="0"/>
              </a:rPr>
              <a:t> </a:t>
            </a:r>
            <a:r>
              <a:rPr lang="en-US" b="1" dirty="0" err="1">
                <a:latin typeface="Cambria" panose="02040503050406030204" pitchFamily="18" charset="0"/>
                <a:ea typeface="Cambria" panose="02040503050406030204" pitchFamily="18" charset="0"/>
                <a:cs typeface="Times New Roman" panose="02020603050405020304" pitchFamily="18" charset="0"/>
              </a:rPr>
              <a:t>JupyterHub</a:t>
            </a:r>
            <a:r>
              <a:rPr lang="en-US" b="1" dirty="0">
                <a:latin typeface="Cambria" panose="02040503050406030204" pitchFamily="18" charset="0"/>
                <a:ea typeface="Cambria" panose="02040503050406030204" pitchFamily="18" charset="0"/>
                <a:cs typeface="Times New Roman" panose="02020603050405020304" pitchFamily="18" charset="0"/>
              </a:rPr>
              <a:t> Integration</a:t>
            </a:r>
            <a:r>
              <a:rPr lang="en-US" dirty="0">
                <a:latin typeface="Cambria" panose="02040503050406030204" pitchFamily="18" charset="0"/>
                <a:ea typeface="Cambria" panose="02040503050406030204" pitchFamily="18" charset="0"/>
                <a:cs typeface="Times New Roman" panose="02020603050405020304" pitchFamily="18" charset="0"/>
              </a:rPr>
              <a:t>: ACCESS </a:t>
            </a:r>
            <a:r>
              <a:rPr lang="en-US" dirty="0" err="1">
                <a:latin typeface="Cambria" panose="02040503050406030204" pitchFamily="18" charset="0"/>
                <a:ea typeface="Cambria" panose="02040503050406030204" pitchFamily="18" charset="0"/>
                <a:cs typeface="Times New Roman" panose="02020603050405020304" pitchFamily="18" charset="0"/>
              </a:rPr>
              <a:t>CloudBank</a:t>
            </a:r>
            <a:r>
              <a:rPr lang="en-US" dirty="0">
                <a:latin typeface="Cambria" panose="02040503050406030204" pitchFamily="18" charset="0"/>
                <a:ea typeface="Cambria" panose="02040503050406030204" pitchFamily="18" charset="0"/>
                <a:cs typeface="Times New Roman" panose="02020603050405020304" pitchFamily="18" charset="0"/>
              </a:rPr>
              <a:t> Classroom was designated as the managed, browser-based </a:t>
            </a:r>
            <a:r>
              <a:rPr lang="en-US" dirty="0" err="1">
                <a:latin typeface="Cambria" panose="02040503050406030204" pitchFamily="18" charset="0"/>
                <a:ea typeface="Cambria" panose="02040503050406030204" pitchFamily="18" charset="0"/>
                <a:cs typeface="Times New Roman" panose="02020603050405020304" pitchFamily="18" charset="0"/>
              </a:rPr>
              <a:t>JupyterHub</a:t>
            </a:r>
            <a:r>
              <a:rPr lang="en-US" dirty="0">
                <a:latin typeface="Cambria" panose="02040503050406030204" pitchFamily="18" charset="0"/>
                <a:ea typeface="Cambria" panose="02040503050406030204" pitchFamily="18" charset="0"/>
                <a:cs typeface="Times New Roman" panose="02020603050405020304" pitchFamily="18" charset="0"/>
              </a:rPr>
              <a:t> environment to reduce local software-installation barriers and provide a consistent computational environment.</a:t>
            </a:r>
          </a:p>
          <a:p>
            <a:pPr marL="285750" indent="-285750">
              <a:lnSpc>
                <a:spcPct val="122000"/>
              </a:lnSpc>
              <a:spcAft>
                <a:spcPts val="800"/>
              </a:spcAft>
              <a:buSzPct val="100000"/>
              <a:buFont typeface="Arial" panose="020B0604020202020204" pitchFamily="34" charset="0"/>
              <a:buChar char="•"/>
            </a:pPr>
            <a:r>
              <a:rPr lang="en-US" b="1" dirty="0">
                <a:latin typeface="Cambria" panose="02040503050406030204" pitchFamily="18" charset="0"/>
                <a:ea typeface="Cambria" panose="02040503050406030204" pitchFamily="18" charset="0"/>
                <a:cs typeface="Times New Roman" panose="02020603050405020304" pitchFamily="18" charset="0"/>
              </a:rPr>
              <a:t>Scaffolded CURE Workflow &amp; Fallbacks: </a:t>
            </a:r>
            <a:r>
              <a:rPr lang="en-US" dirty="0">
                <a:latin typeface="Cambria" panose="02040503050406030204" pitchFamily="18" charset="0"/>
                <a:ea typeface="Cambria" panose="02040503050406030204" pitchFamily="18" charset="0"/>
                <a:cs typeface="Times New Roman" panose="02020603050405020304" pitchFamily="18" charset="0"/>
              </a:rPr>
              <a:t>The CURE uses four research stages Discovery, Visualization, Analysis, and Interpretation with spreadsheet/CSV alternatives so students can achieve the same learning outcomes when gateway access is limited.</a:t>
            </a:r>
          </a:p>
          <a:p>
            <a:pPr marL="285750" indent="-285750">
              <a:lnSpc>
                <a:spcPct val="122000"/>
              </a:lnSpc>
              <a:spcAft>
                <a:spcPts val="800"/>
              </a:spcAft>
              <a:buSzPct val="100000"/>
              <a:buFont typeface="Arial" panose="020B0604020202020204" pitchFamily="34" charset="0"/>
              <a:buChar char="•"/>
            </a:pPr>
            <a:r>
              <a:rPr lang="en-US" b="1" dirty="0">
                <a:latin typeface="Cambria" panose="02040503050406030204" pitchFamily="18" charset="0"/>
                <a:ea typeface="Cambria" panose="02040503050406030204" pitchFamily="18" charset="0"/>
                <a:cs typeface="Times New Roman" panose="02020603050405020304" pitchFamily="18" charset="0"/>
              </a:rPr>
              <a:t>HPC Carpentry On-Ramp</a:t>
            </a:r>
            <a:r>
              <a:rPr lang="en-US" dirty="0">
                <a:latin typeface="Cambria" panose="02040503050406030204" pitchFamily="18" charset="0"/>
                <a:ea typeface="Cambria" panose="02040503050406030204" pitchFamily="18" charset="0"/>
                <a:cs typeface="Times New Roman" panose="02020603050405020304" pitchFamily="18" charset="0"/>
              </a:rPr>
              <a:t>: An introductory HPC Carpentry experience is incorporated during Weeks 1–2 to establish vocabulary and familiarity with remote computing without requiring advanced parallel programming</a:t>
            </a:r>
            <a:r>
              <a:rPr lang="en-US" b="1" dirty="0">
                <a:latin typeface="Cambria" panose="02040503050406030204" pitchFamily="18" charset="0"/>
                <a:ea typeface="Cambria" panose="02040503050406030204" pitchFamily="18" charset="0"/>
                <a:cs typeface="Times New Roman" panose="02020603050405020304" pitchFamily="18" charset="0"/>
              </a:rPr>
              <a:t>.</a:t>
            </a:r>
          </a:p>
        </p:txBody>
      </p:sp>
      <p:sp>
        <p:nvSpPr>
          <p:cNvPr id="23" name="Shape 20"/>
          <p:cNvSpPr/>
          <p:nvPr/>
        </p:nvSpPr>
        <p:spPr>
          <a:xfrm>
            <a:off x="9601200" y="8298180"/>
            <a:ext cx="365760" cy="365760"/>
          </a:xfrm>
          <a:prstGeom prst="rect">
            <a:avLst/>
          </a:prstGeom>
          <a:solidFill>
            <a:srgbClr val="6E7D1F"/>
          </a:solidFill>
          <a:ln/>
        </p:spPr>
        <p:txBody>
          <a:bodyPr/>
          <a:lstStyle/>
          <a:p>
            <a:endParaRPr lang="en-US"/>
          </a:p>
        </p:txBody>
      </p:sp>
      <p:sp>
        <p:nvSpPr>
          <p:cNvPr id="24" name="Text 21"/>
          <p:cNvSpPr/>
          <p:nvPr/>
        </p:nvSpPr>
        <p:spPr>
          <a:xfrm>
            <a:off x="10195560" y="8225028"/>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TARGET COURSE DESCRIPTION</a:t>
            </a:r>
            <a:endParaRPr lang="en-US" sz="2700" dirty="0"/>
          </a:p>
        </p:txBody>
      </p:sp>
      <p:sp>
        <p:nvSpPr>
          <p:cNvPr id="27" name="Text 23"/>
          <p:cNvSpPr/>
          <p:nvPr/>
        </p:nvSpPr>
        <p:spPr>
          <a:xfrm>
            <a:off x="9601200" y="11292944"/>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mbria" panose="02040503050406030204" pitchFamily="18" charset="0"/>
                <a:ea typeface="Cambria" panose="02040503050406030204" pitchFamily="18" charset="0"/>
                <a:cs typeface="Calibri" pitchFamily="34" charset="-120"/>
              </a:rPr>
              <a:t>Course Description</a:t>
            </a:r>
            <a:endParaRPr lang="en-US" sz="2100" dirty="0">
              <a:solidFill>
                <a:schemeClr val="bg1"/>
              </a:solidFill>
              <a:latin typeface="Cambria" panose="02040503050406030204" pitchFamily="18" charset="0"/>
              <a:ea typeface="Cambria" panose="02040503050406030204" pitchFamily="18" charset="0"/>
            </a:endParaRPr>
          </a:p>
        </p:txBody>
      </p:sp>
      <p:sp>
        <p:nvSpPr>
          <p:cNvPr id="28" name="Text 24"/>
          <p:cNvSpPr/>
          <p:nvPr/>
        </p:nvSpPr>
        <p:spPr>
          <a:xfrm>
            <a:off x="9601200" y="11845383"/>
            <a:ext cx="8412480" cy="1558974"/>
          </a:xfrm>
          <a:prstGeom prst="rect">
            <a:avLst/>
          </a:prstGeom>
          <a:noFill/>
          <a:ln/>
        </p:spPr>
        <p:txBody>
          <a:bodyPr wrap="square" lIns="0" tIns="0" rIns="0" bIns="0" rtlCol="0" anchor="t"/>
          <a:lstStyle/>
          <a:p>
            <a:r>
              <a:rPr lang="en-US" dirty="0">
                <a:latin typeface="Cambria" panose="02040503050406030204" pitchFamily="18" charset="0"/>
                <a:ea typeface="Cambria" panose="02040503050406030204" pitchFamily="18" charset="0"/>
                <a:cs typeface="Times New Roman" panose="02020603050405020304" pitchFamily="18" charset="0"/>
              </a:rPr>
              <a:t>An introductory environmental science course addressing ecological, geological, atmospheric, and hydrological systems; sustainability; environmental health; ethics; policy; economics; and environmental decision-making. Students investigate South Louisiana environmental systems through field observation, authentic datasets, geospatial reasoning, reproducible computational tools, and collaborative research.</a:t>
            </a:r>
          </a:p>
        </p:txBody>
      </p:sp>
      <p:sp>
        <p:nvSpPr>
          <p:cNvPr id="29" name="Text 25"/>
          <p:cNvSpPr/>
          <p:nvPr/>
        </p:nvSpPr>
        <p:spPr>
          <a:xfrm>
            <a:off x="9601200" y="13578840"/>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mbria" panose="02040503050406030204" pitchFamily="18" charset="0"/>
                <a:ea typeface="Cambria" panose="02040503050406030204" pitchFamily="18" charset="0"/>
                <a:cs typeface="Calibri" pitchFamily="34" charset="-120"/>
              </a:rPr>
              <a:t>Key Content by Week</a:t>
            </a:r>
            <a:endParaRPr lang="en-US" sz="2100" dirty="0">
              <a:solidFill>
                <a:schemeClr val="bg1"/>
              </a:solidFill>
              <a:latin typeface="Cambria" panose="02040503050406030204" pitchFamily="18" charset="0"/>
              <a:ea typeface="Cambria" panose="02040503050406030204" pitchFamily="18" charset="0"/>
            </a:endParaRPr>
          </a:p>
        </p:txBody>
      </p:sp>
      <p:sp>
        <p:nvSpPr>
          <p:cNvPr id="31" name="Shape 27"/>
          <p:cNvSpPr/>
          <p:nvPr/>
        </p:nvSpPr>
        <p:spPr>
          <a:xfrm>
            <a:off x="9486900" y="18778609"/>
            <a:ext cx="365760" cy="365760"/>
          </a:xfrm>
          <a:prstGeom prst="rect">
            <a:avLst/>
          </a:prstGeom>
          <a:solidFill>
            <a:srgbClr val="6E7D1F"/>
          </a:solidFill>
          <a:ln/>
        </p:spPr>
        <p:txBody>
          <a:bodyPr/>
          <a:lstStyle/>
          <a:p>
            <a:endParaRPr lang="en-US"/>
          </a:p>
        </p:txBody>
      </p:sp>
      <p:sp>
        <p:nvSpPr>
          <p:cNvPr id="32" name="Text 28"/>
          <p:cNvSpPr/>
          <p:nvPr/>
        </p:nvSpPr>
        <p:spPr>
          <a:xfrm>
            <a:off x="10225208" y="18687169"/>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SCIENCE GATEWAY RESOURCES USED</a:t>
            </a:r>
            <a:endParaRPr lang="en-US" sz="2700" dirty="0"/>
          </a:p>
        </p:txBody>
      </p:sp>
      <p:sp>
        <p:nvSpPr>
          <p:cNvPr id="37" name="Shape 33"/>
          <p:cNvSpPr/>
          <p:nvPr/>
        </p:nvSpPr>
        <p:spPr>
          <a:xfrm>
            <a:off x="18074202" y="8431228"/>
            <a:ext cx="365760" cy="365760"/>
          </a:xfrm>
          <a:prstGeom prst="rect">
            <a:avLst/>
          </a:prstGeom>
          <a:solidFill>
            <a:srgbClr val="6E7D1F"/>
          </a:solidFill>
          <a:ln/>
        </p:spPr>
        <p:txBody>
          <a:bodyPr/>
          <a:lstStyle/>
          <a:p>
            <a:endParaRPr lang="en-US"/>
          </a:p>
        </p:txBody>
      </p:sp>
      <p:sp>
        <p:nvSpPr>
          <p:cNvPr id="38" name="Text 34"/>
          <p:cNvSpPr/>
          <p:nvPr/>
        </p:nvSpPr>
        <p:spPr>
          <a:xfrm>
            <a:off x="18882360" y="8338993"/>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DELIVERABLE EXAMPLE</a:t>
            </a:r>
            <a:endParaRPr lang="en-US" sz="2700" dirty="0"/>
          </a:p>
        </p:txBody>
      </p:sp>
      <p:sp>
        <p:nvSpPr>
          <p:cNvPr id="40" name="Text 36"/>
          <p:cNvSpPr/>
          <p:nvPr/>
        </p:nvSpPr>
        <p:spPr>
          <a:xfrm>
            <a:off x="18288000" y="8742127"/>
            <a:ext cx="8229600" cy="545129"/>
          </a:xfrm>
          <a:prstGeom prst="rect">
            <a:avLst/>
          </a:prstGeom>
          <a:noFill/>
          <a:ln/>
        </p:spPr>
        <p:txBody>
          <a:bodyPr wrap="square" lIns="0" tIns="0" rIns="0" bIns="0" rtlCol="0" anchor="t"/>
          <a:lstStyle/>
          <a:p>
            <a:pPr marL="0" indent="0" algn="l">
              <a:lnSpc>
                <a:spcPct val="120000"/>
              </a:lnSpc>
              <a:buNone/>
            </a:pPr>
            <a:endParaRPr lang="en-US" sz="1900" dirty="0"/>
          </a:p>
        </p:txBody>
      </p:sp>
      <p:sp>
        <p:nvSpPr>
          <p:cNvPr id="41" name="Text 37"/>
          <p:cNvSpPr/>
          <p:nvPr/>
        </p:nvSpPr>
        <p:spPr>
          <a:xfrm>
            <a:off x="18288000" y="9790176"/>
            <a:ext cx="8229600" cy="2432304"/>
          </a:xfrm>
          <a:prstGeom prst="rect">
            <a:avLst/>
          </a:prstGeom>
          <a:noFill/>
          <a:ln/>
        </p:spPr>
        <p:txBody>
          <a:bodyPr wrap="square" lIns="0" tIns="0" rIns="0" bIns="0" rtlCol="0" anchor="t"/>
          <a:lstStyle/>
          <a:p>
            <a:pPr marL="177800" indent="-177800" algn="l">
              <a:lnSpc>
                <a:spcPct val="122000"/>
              </a:lnSpc>
              <a:spcAft>
                <a:spcPts val="800"/>
              </a:spcAft>
              <a:buSzPct val="100000"/>
              <a:buChar char="•"/>
            </a:pPr>
            <a:endParaRPr lang="en-US" sz="1800" dirty="0"/>
          </a:p>
        </p:txBody>
      </p:sp>
      <p:sp>
        <p:nvSpPr>
          <p:cNvPr id="44" name="Text 40"/>
          <p:cNvSpPr/>
          <p:nvPr/>
        </p:nvSpPr>
        <p:spPr>
          <a:xfrm>
            <a:off x="18313066" y="16103041"/>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mbria" panose="02040503050406030204" pitchFamily="18" charset="0"/>
                <a:ea typeface="Cambria" panose="02040503050406030204" pitchFamily="18" charset="0"/>
                <a:cs typeface="Calibri" pitchFamily="34" charset="-120"/>
              </a:rPr>
              <a:t>Project Goals</a:t>
            </a:r>
            <a:endParaRPr lang="en-US" sz="2100" dirty="0">
              <a:solidFill>
                <a:schemeClr val="bg1"/>
              </a:solidFill>
              <a:latin typeface="Cambria" panose="02040503050406030204" pitchFamily="18" charset="0"/>
              <a:ea typeface="Cambria" panose="02040503050406030204" pitchFamily="18" charset="0"/>
            </a:endParaRPr>
          </a:p>
        </p:txBody>
      </p:sp>
      <p:sp>
        <p:nvSpPr>
          <p:cNvPr id="45" name="Text 41"/>
          <p:cNvSpPr/>
          <p:nvPr/>
        </p:nvSpPr>
        <p:spPr>
          <a:xfrm>
            <a:off x="18288000" y="15148560"/>
            <a:ext cx="8229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endParaRPr lang="en-US" sz="1800" dirty="0"/>
          </a:p>
        </p:txBody>
      </p:sp>
      <p:sp>
        <p:nvSpPr>
          <p:cNvPr id="46" name="Shape 42"/>
          <p:cNvSpPr/>
          <p:nvPr/>
        </p:nvSpPr>
        <p:spPr>
          <a:xfrm>
            <a:off x="18272344" y="19555395"/>
            <a:ext cx="365760" cy="365760"/>
          </a:xfrm>
          <a:prstGeom prst="rect">
            <a:avLst/>
          </a:prstGeom>
          <a:solidFill>
            <a:srgbClr val="6E7D1F"/>
          </a:solidFill>
          <a:ln/>
        </p:spPr>
        <p:txBody>
          <a:bodyPr/>
          <a:lstStyle/>
          <a:p>
            <a:endParaRPr lang="en-US"/>
          </a:p>
        </p:txBody>
      </p:sp>
      <p:sp>
        <p:nvSpPr>
          <p:cNvPr id="47" name="Text 43"/>
          <p:cNvSpPr/>
          <p:nvPr/>
        </p:nvSpPr>
        <p:spPr>
          <a:xfrm>
            <a:off x="18882360" y="19404776"/>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EXPANSION IDEAS</a:t>
            </a:r>
            <a:endParaRPr lang="en-US" sz="2700" dirty="0"/>
          </a:p>
        </p:txBody>
      </p:sp>
      <p:sp>
        <p:nvSpPr>
          <p:cNvPr id="49" name="Text 45"/>
          <p:cNvSpPr/>
          <p:nvPr/>
        </p:nvSpPr>
        <p:spPr>
          <a:xfrm>
            <a:off x="18288000" y="18162422"/>
            <a:ext cx="8229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endParaRPr lang="en-US" sz="1800" dirty="0"/>
          </a:p>
        </p:txBody>
      </p:sp>
      <p:sp>
        <p:nvSpPr>
          <p:cNvPr id="50" name="Shape 46"/>
          <p:cNvSpPr/>
          <p:nvPr/>
        </p:nvSpPr>
        <p:spPr>
          <a:xfrm>
            <a:off x="18288000" y="22758959"/>
            <a:ext cx="365760" cy="365760"/>
          </a:xfrm>
          <a:prstGeom prst="rect">
            <a:avLst/>
          </a:prstGeom>
          <a:solidFill>
            <a:srgbClr val="6E7D1F"/>
          </a:solidFill>
          <a:ln/>
        </p:spPr>
        <p:txBody>
          <a:bodyPr/>
          <a:lstStyle/>
          <a:p>
            <a:endParaRPr lang="en-US"/>
          </a:p>
        </p:txBody>
      </p:sp>
      <p:sp>
        <p:nvSpPr>
          <p:cNvPr id="51" name="Text 47"/>
          <p:cNvSpPr/>
          <p:nvPr/>
        </p:nvSpPr>
        <p:spPr>
          <a:xfrm>
            <a:off x="18882360" y="22667131"/>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REFERENCES</a:t>
            </a:r>
            <a:endParaRPr lang="en-US" sz="2700" dirty="0"/>
          </a:p>
        </p:txBody>
      </p:sp>
      <p:sp>
        <p:nvSpPr>
          <p:cNvPr id="53" name="Text 49"/>
          <p:cNvSpPr/>
          <p:nvPr/>
        </p:nvSpPr>
        <p:spPr>
          <a:xfrm>
            <a:off x="18272344" y="23337085"/>
            <a:ext cx="8229600" cy="1435466"/>
          </a:xfrm>
          <a:prstGeom prst="rect">
            <a:avLst/>
          </a:prstGeom>
          <a:noFill/>
          <a:ln/>
        </p:spPr>
        <p:txBody>
          <a:bodyPr wrap="square" lIns="0" tIns="0" rIns="0" bIns="0" rtlCol="0" anchor="t"/>
          <a:lstStyle/>
          <a:p>
            <a:pPr lvl="0"/>
            <a:r>
              <a:rPr lang="en-US" b="1" i="1" dirty="0">
                <a:latin typeface="Cambria" panose="02040503050406030204" pitchFamily="18" charset="0"/>
                <a:ea typeface="Cambria" panose="02040503050406030204" pitchFamily="18" charset="0"/>
                <a:cs typeface="Times New Roman" panose="02020603050405020304" pitchFamily="18" charset="0"/>
              </a:rPr>
              <a:t>Introduction to Environmental Science</a:t>
            </a:r>
            <a:r>
              <a:rPr lang="en-US" b="1" dirty="0">
                <a:latin typeface="Cambria" panose="02040503050406030204" pitchFamily="18" charset="0"/>
                <a:ea typeface="Cambria" panose="02040503050406030204" pitchFamily="18" charset="0"/>
                <a:cs typeface="Times New Roman" panose="02020603050405020304" pitchFamily="18" charset="0"/>
              </a:rPr>
              <a:t>, 2nd Edition. Open Textbook Library.</a:t>
            </a:r>
          </a:p>
          <a:p>
            <a:pPr lvl="0"/>
            <a:r>
              <a:rPr lang="en-US" b="1" dirty="0">
                <a:latin typeface="Cambria" panose="02040503050406030204" pitchFamily="18" charset="0"/>
                <a:ea typeface="Cambria" panose="02040503050406030204" pitchFamily="18" charset="0"/>
                <a:cs typeface="Times New Roman" panose="02020603050405020304" pitchFamily="18" charset="0"/>
              </a:rPr>
              <a:t>HPC Carpentry. </a:t>
            </a:r>
            <a:r>
              <a:rPr lang="en-US" b="1" i="1" dirty="0">
                <a:latin typeface="Cambria" panose="02040503050406030204" pitchFamily="18" charset="0"/>
                <a:ea typeface="Cambria" panose="02040503050406030204" pitchFamily="18" charset="0"/>
                <a:cs typeface="Times New Roman" panose="02020603050405020304" pitchFamily="18" charset="0"/>
              </a:rPr>
              <a:t>Introduction to High-Performance Computing</a:t>
            </a:r>
            <a:r>
              <a:rPr lang="en-US" b="1" dirty="0">
                <a:latin typeface="Cambria" panose="02040503050406030204" pitchFamily="18" charset="0"/>
                <a:ea typeface="Cambria" panose="02040503050406030204" pitchFamily="18" charset="0"/>
                <a:cs typeface="Times New Roman" panose="02020603050405020304" pitchFamily="18" charset="0"/>
              </a:rPr>
              <a:t>.</a:t>
            </a:r>
          </a:p>
          <a:p>
            <a:pPr lvl="0"/>
            <a:r>
              <a:rPr lang="en-US" b="1" dirty="0">
                <a:latin typeface="Cambria" panose="02040503050406030204" pitchFamily="18" charset="0"/>
                <a:ea typeface="Cambria" panose="02040503050406030204" pitchFamily="18" charset="0"/>
                <a:cs typeface="Times New Roman" panose="02020603050405020304" pitchFamily="18" charset="0"/>
              </a:rPr>
              <a:t>ACCESS Cloud Bank Classroom.</a:t>
            </a:r>
          </a:p>
          <a:p>
            <a:pPr lvl="0"/>
            <a:r>
              <a:rPr lang="en-US" b="1" dirty="0" err="1">
                <a:latin typeface="Cambria" panose="02040503050406030204" pitchFamily="18" charset="0"/>
                <a:ea typeface="Cambria" panose="02040503050406030204" pitchFamily="18" charset="0"/>
                <a:cs typeface="Times New Roman" panose="02020603050405020304" pitchFamily="18" charset="0"/>
              </a:rPr>
              <a:t>OpenTopography</a:t>
            </a:r>
            <a:r>
              <a:rPr lang="en-US" b="1" dirty="0">
                <a:latin typeface="Cambria" panose="02040503050406030204" pitchFamily="18" charset="0"/>
                <a:ea typeface="Cambria" panose="02040503050406030204" pitchFamily="18" charset="0"/>
                <a:cs typeface="Times New Roman" panose="02020603050405020304" pitchFamily="18" charset="0"/>
              </a:rPr>
              <a:t>.</a:t>
            </a:r>
          </a:p>
          <a:p>
            <a:pPr lvl="0"/>
            <a:r>
              <a:rPr lang="en-US" b="1" dirty="0">
                <a:latin typeface="Cambria" panose="02040503050406030204" pitchFamily="18" charset="0"/>
                <a:ea typeface="Cambria" panose="02040503050406030204" pitchFamily="18" charset="0"/>
                <a:cs typeface="Times New Roman" panose="02020603050405020304" pitchFamily="18" charset="0"/>
              </a:rPr>
              <a:t>EPA </a:t>
            </a:r>
            <a:r>
              <a:rPr lang="en-US" b="1" dirty="0" err="1">
                <a:latin typeface="Cambria" panose="02040503050406030204" pitchFamily="18" charset="0"/>
                <a:ea typeface="Cambria" panose="02040503050406030204" pitchFamily="18" charset="0"/>
                <a:cs typeface="Times New Roman" panose="02020603050405020304" pitchFamily="18" charset="0"/>
              </a:rPr>
              <a:t>EnviroAtlas</a:t>
            </a:r>
            <a:r>
              <a:rPr lang="en-US" b="1" dirty="0">
                <a:latin typeface="Cambria" panose="02040503050406030204" pitchFamily="18" charset="0"/>
                <a:ea typeface="Cambria" panose="02040503050406030204" pitchFamily="18" charset="0"/>
                <a:cs typeface="Times New Roman" panose="02020603050405020304" pitchFamily="18" charset="0"/>
              </a:rPr>
              <a:t>.</a:t>
            </a:r>
          </a:p>
          <a:p>
            <a:pPr lvl="0"/>
            <a:r>
              <a:rPr lang="en-US" b="1" dirty="0">
                <a:latin typeface="Cambria" panose="02040503050406030204" pitchFamily="18" charset="0"/>
                <a:ea typeface="Cambria" panose="02040503050406030204" pitchFamily="18" charset="0"/>
                <a:cs typeface="Times New Roman" panose="02020603050405020304" pitchFamily="18" charset="0"/>
              </a:rPr>
              <a:t>iNaturalist.</a:t>
            </a:r>
          </a:p>
          <a:p>
            <a:pPr lvl="0"/>
            <a:r>
              <a:rPr lang="en-US" b="1" dirty="0" err="1">
                <a:latin typeface="Cambria" panose="02040503050406030204" pitchFamily="18" charset="0"/>
                <a:ea typeface="Cambria" panose="02040503050406030204" pitchFamily="18" charset="0"/>
                <a:cs typeface="Times New Roman" panose="02020603050405020304" pitchFamily="18" charset="0"/>
              </a:rPr>
              <a:t>geemap</a:t>
            </a:r>
            <a:r>
              <a:rPr lang="en-US" b="1" dirty="0">
                <a:latin typeface="Cambria" panose="02040503050406030204" pitchFamily="18" charset="0"/>
                <a:ea typeface="Cambria" panose="02040503050406030204" pitchFamily="18" charset="0"/>
                <a:cs typeface="Times New Roman" panose="02020603050405020304" pitchFamily="18" charset="0"/>
              </a:rPr>
              <a:t> / </a:t>
            </a:r>
            <a:r>
              <a:rPr lang="en-US" b="1" dirty="0" err="1">
                <a:latin typeface="Cambria" panose="02040503050406030204" pitchFamily="18" charset="0"/>
                <a:ea typeface="Cambria" panose="02040503050406030204" pitchFamily="18" charset="0"/>
                <a:cs typeface="Times New Roman" panose="02020603050405020304" pitchFamily="18" charset="0"/>
              </a:rPr>
              <a:t>leafmap</a:t>
            </a:r>
            <a:r>
              <a:rPr lang="en-US" b="1" dirty="0">
                <a:latin typeface="Cambria" panose="02040503050406030204" pitchFamily="18" charset="0"/>
                <a:ea typeface="Cambria" panose="02040503050406030204" pitchFamily="18" charset="0"/>
                <a:cs typeface="Times New Roman" panose="02020603050405020304" pitchFamily="18" charset="0"/>
              </a:rPr>
              <a:t>.</a:t>
            </a:r>
          </a:p>
          <a:p>
            <a:pPr lvl="0"/>
            <a:r>
              <a:rPr lang="en-US" b="1" dirty="0" err="1">
                <a:latin typeface="Cambria" panose="02040503050406030204" pitchFamily="18" charset="0"/>
                <a:ea typeface="Cambria" panose="02040503050406030204" pitchFamily="18" charset="0"/>
                <a:cs typeface="Times New Roman" panose="02020603050405020304" pitchFamily="18" charset="0"/>
              </a:rPr>
              <a:t>HazMapper</a:t>
            </a:r>
            <a:r>
              <a:rPr lang="en-US" b="1" dirty="0">
                <a:latin typeface="Cambria" panose="02040503050406030204" pitchFamily="18" charset="0"/>
                <a:ea typeface="Cambria" panose="02040503050406030204" pitchFamily="18" charset="0"/>
                <a:cs typeface="Times New Roman" panose="02020603050405020304" pitchFamily="18" charset="0"/>
              </a:rPr>
              <a:t> (</a:t>
            </a:r>
            <a:r>
              <a:rPr lang="en-US" b="1" dirty="0" err="1">
                <a:latin typeface="Cambria" panose="02040503050406030204" pitchFamily="18" charset="0"/>
                <a:ea typeface="Cambria" panose="02040503050406030204" pitchFamily="18" charset="0"/>
                <a:cs typeface="Times New Roman" panose="02020603050405020304" pitchFamily="18" charset="0"/>
              </a:rPr>
              <a:t>DesignSafe</a:t>
            </a:r>
            <a:r>
              <a:rPr lang="en-US" b="1" dirty="0">
                <a:latin typeface="Cambria" panose="02040503050406030204" pitchFamily="18" charset="0"/>
                <a:ea typeface="Cambria" panose="02040503050406030204" pitchFamily="18" charset="0"/>
                <a:cs typeface="Times New Roman" panose="02020603050405020304" pitchFamily="18" charset="0"/>
              </a:rPr>
              <a:t>).</a:t>
            </a:r>
          </a:p>
          <a:p>
            <a:pPr lvl="0"/>
            <a:r>
              <a:rPr lang="en-US" b="1" dirty="0">
                <a:latin typeface="Cambria" panose="02040503050406030204" pitchFamily="18" charset="0"/>
                <a:ea typeface="Cambria" panose="02040503050406030204" pitchFamily="18" charset="0"/>
                <a:cs typeface="Times New Roman" panose="02020603050405020304" pitchFamily="18" charset="0"/>
              </a:rPr>
              <a:t>ScienceGateways.org.</a:t>
            </a:r>
          </a:p>
        </p:txBody>
      </p:sp>
      <p:sp>
        <p:nvSpPr>
          <p:cNvPr id="54" name="Shape 50"/>
          <p:cNvSpPr/>
          <p:nvPr/>
        </p:nvSpPr>
        <p:spPr>
          <a:xfrm>
            <a:off x="978094" y="21435928"/>
            <a:ext cx="365760" cy="365760"/>
          </a:xfrm>
          <a:prstGeom prst="rect">
            <a:avLst/>
          </a:prstGeom>
          <a:solidFill>
            <a:srgbClr val="6E7D1F"/>
          </a:solidFill>
          <a:ln/>
        </p:spPr>
        <p:txBody>
          <a:bodyPr/>
          <a:lstStyle/>
          <a:p>
            <a:endParaRPr lang="en-US"/>
          </a:p>
        </p:txBody>
      </p:sp>
      <p:sp>
        <p:nvSpPr>
          <p:cNvPr id="55" name="Text 51"/>
          <p:cNvSpPr/>
          <p:nvPr/>
        </p:nvSpPr>
        <p:spPr>
          <a:xfrm>
            <a:off x="1508760" y="21358093"/>
            <a:ext cx="800100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IMPACT ON STUDENTS</a:t>
            </a:r>
            <a:endParaRPr lang="en-US" sz="2700" dirty="0"/>
          </a:p>
        </p:txBody>
      </p:sp>
      <p:sp>
        <p:nvSpPr>
          <p:cNvPr id="60" name="Text 56"/>
          <p:cNvSpPr/>
          <p:nvPr/>
        </p:nvSpPr>
        <p:spPr>
          <a:xfrm>
            <a:off x="1143000" y="21889739"/>
            <a:ext cx="7922189" cy="2991362"/>
          </a:xfrm>
          <a:prstGeom prst="rect">
            <a:avLst/>
          </a:prstGeom>
          <a:noFill/>
          <a:ln/>
        </p:spPr>
        <p:txBody>
          <a:bodyPr wrap="square" lIns="0" tIns="0" rIns="0" bIns="0" rtlCol="0" anchor="t"/>
          <a:lstStyle/>
          <a:p>
            <a:r>
              <a:rPr lang="en-US" dirty="0">
                <a:latin typeface="Cambria" panose="02040503050406030204" pitchFamily="18" charset="0"/>
                <a:ea typeface="Cambria" panose="02040503050406030204" pitchFamily="18" charset="0"/>
                <a:cs typeface="Times New Roman" panose="02020603050405020304" pitchFamily="18" charset="0"/>
              </a:rPr>
              <a:t>Democratize access to HPC services for students at HBCU.</a:t>
            </a:r>
          </a:p>
          <a:p>
            <a:r>
              <a:rPr lang="en-US" dirty="0">
                <a:latin typeface="Cambria" panose="02040503050406030204" pitchFamily="18" charset="0"/>
                <a:ea typeface="Cambria" panose="02040503050406030204" pitchFamily="18" charset="0"/>
                <a:cs typeface="Times New Roman" panose="02020603050405020304" pitchFamily="18" charset="0"/>
              </a:rPr>
              <a:t>User Population: 10–15 undergraduate Urban Forestry students at Southern University and A&amp;M College.</a:t>
            </a:r>
          </a:p>
          <a:p>
            <a:r>
              <a:rPr lang="en-US" dirty="0">
                <a:latin typeface="Cambria" panose="02040503050406030204" pitchFamily="18" charset="0"/>
                <a:ea typeface="Cambria" panose="02040503050406030204" pitchFamily="18" charset="0"/>
                <a:cs typeface="Times New Roman" panose="02020603050405020304" pitchFamily="18" charset="0"/>
              </a:rPr>
              <a:t>Designed Impact:</a:t>
            </a:r>
          </a:p>
          <a:p>
            <a:r>
              <a:rPr lang="en-US" dirty="0">
                <a:latin typeface="Cambria" panose="02040503050406030204" pitchFamily="18" charset="0"/>
                <a:ea typeface="Cambria" panose="02040503050406030204" pitchFamily="18" charset="0"/>
                <a:cs typeface="Times New Roman" panose="02020603050405020304" pitchFamily="18" charset="0"/>
              </a:rPr>
              <a:t>Reduce software and setup barriers through browser-based, preconfigured computational tools.</a:t>
            </a:r>
          </a:p>
          <a:p>
            <a:r>
              <a:rPr lang="en-US" dirty="0">
                <a:latin typeface="Cambria" panose="02040503050406030204" pitchFamily="18" charset="0"/>
                <a:ea typeface="Cambria" panose="02040503050406030204" pitchFamily="18" charset="0"/>
                <a:cs typeface="Times New Roman" panose="02020603050405020304" pitchFamily="18" charset="0"/>
              </a:rPr>
              <a:t>Provide structured access to authentic environmental and geospatial datasets.</a:t>
            </a:r>
          </a:p>
          <a:p>
            <a:r>
              <a:rPr lang="en-US" dirty="0">
                <a:latin typeface="Cambria" panose="02040503050406030204" pitchFamily="18" charset="0"/>
                <a:ea typeface="Cambria" panose="02040503050406030204" pitchFamily="18" charset="0"/>
                <a:cs typeface="Times New Roman" panose="02020603050405020304" pitchFamily="18" charset="0"/>
              </a:rPr>
              <a:t>Build experience with data discovery, visualization, analysis, interpretation, and reproducibility.</a:t>
            </a:r>
          </a:p>
          <a:p>
            <a:r>
              <a:rPr lang="en-US" dirty="0">
                <a:latin typeface="Cambria" panose="02040503050406030204" pitchFamily="18" charset="0"/>
                <a:ea typeface="Cambria" panose="02040503050406030204" pitchFamily="18" charset="0"/>
                <a:cs typeface="Times New Roman" panose="02020603050405020304" pitchFamily="18" charset="0"/>
              </a:rPr>
              <a:t>Introduce HPC concepts without requiring advanced programming.</a:t>
            </a:r>
          </a:p>
          <a:p>
            <a:r>
              <a:rPr lang="en-US" dirty="0">
                <a:latin typeface="Cambria" panose="02040503050406030204" pitchFamily="18" charset="0"/>
                <a:ea typeface="Cambria" panose="02040503050406030204" pitchFamily="18" charset="0"/>
                <a:cs typeface="Times New Roman" panose="02020603050405020304" pitchFamily="18" charset="0"/>
              </a:rPr>
              <a:t>Develop responsible AI practice through explicit limits, verification, disclosure, and accountability.</a:t>
            </a:r>
          </a:p>
          <a:p>
            <a:r>
              <a:rPr lang="en-US" dirty="0">
                <a:latin typeface="Cambria" panose="02040503050406030204" pitchFamily="18" charset="0"/>
                <a:ea typeface="Cambria" panose="02040503050406030204" pitchFamily="18" charset="0"/>
                <a:cs typeface="Times New Roman" panose="02020603050405020304" pitchFamily="18" charset="0"/>
              </a:rPr>
              <a:t>Maintain access through spreadsheet/CSV fallback pathways.</a:t>
            </a:r>
          </a:p>
        </p:txBody>
      </p:sp>
      <p:sp>
        <p:nvSpPr>
          <p:cNvPr id="70" name="Text 66"/>
          <p:cNvSpPr/>
          <p:nvPr/>
        </p:nvSpPr>
        <p:spPr>
          <a:xfrm>
            <a:off x="14538960" y="24259404"/>
            <a:ext cx="11658600" cy="1532534"/>
          </a:xfrm>
          <a:prstGeom prst="rect">
            <a:avLst/>
          </a:prstGeom>
          <a:noFill/>
          <a:ln/>
        </p:spPr>
        <p:txBody>
          <a:bodyPr wrap="square" lIns="0" tIns="0" rIns="0" bIns="0" rtlCol="0" anchor="t"/>
          <a:lstStyle/>
          <a:p>
            <a:pPr marL="177800" indent="-177800" algn="l">
              <a:lnSpc>
                <a:spcPct val="122000"/>
              </a:lnSpc>
              <a:spcAft>
                <a:spcPts val="800"/>
              </a:spcAft>
              <a:buSzPct val="100000"/>
              <a:buChar char="•"/>
            </a:pPr>
            <a:endParaRPr lang="en-US" sz="1800" dirty="0"/>
          </a:p>
        </p:txBody>
      </p:sp>
      <p:sp>
        <p:nvSpPr>
          <p:cNvPr id="71" name="Shape 67"/>
          <p:cNvSpPr/>
          <p:nvPr/>
        </p:nvSpPr>
        <p:spPr>
          <a:xfrm>
            <a:off x="914400" y="25556881"/>
            <a:ext cx="365760" cy="365760"/>
          </a:xfrm>
          <a:prstGeom prst="rect">
            <a:avLst/>
          </a:prstGeom>
          <a:solidFill>
            <a:srgbClr val="6E7D1F"/>
          </a:solidFill>
          <a:ln/>
        </p:spPr>
        <p:txBody>
          <a:bodyPr/>
          <a:lstStyle/>
          <a:p>
            <a:endParaRPr lang="en-US"/>
          </a:p>
        </p:txBody>
      </p:sp>
      <p:sp>
        <p:nvSpPr>
          <p:cNvPr id="72" name="Text 68"/>
          <p:cNvSpPr/>
          <p:nvPr/>
        </p:nvSpPr>
        <p:spPr>
          <a:xfrm>
            <a:off x="1508760" y="25483729"/>
            <a:ext cx="25008840" cy="548640"/>
          </a:xfrm>
          <a:prstGeom prst="rect">
            <a:avLst/>
          </a:prstGeom>
          <a:noFill/>
          <a:ln/>
        </p:spPr>
        <p:txBody>
          <a:bodyPr wrap="square" lIns="0" tIns="0" rIns="0" bIns="0" rtlCol="0" anchor="ctr" anchorCtr="0"/>
          <a:lstStyle/>
          <a:p>
            <a:pPr marL="0" indent="0" algn="l">
              <a:buNone/>
            </a:pPr>
            <a:r>
              <a:rPr lang="en-US" sz="2800" b="1" kern="0" spc="30" dirty="0">
                <a:solidFill>
                  <a:srgbClr val="6B4A2A"/>
                </a:solidFill>
                <a:latin typeface="Cambria" pitchFamily="34" charset="0"/>
                <a:ea typeface="Cambria" pitchFamily="34" charset="-122"/>
                <a:cs typeface="Cambria" pitchFamily="34" charset="-120"/>
              </a:rPr>
              <a:t>COURSE REDESIGN: BEFORE &amp; AFTER</a:t>
            </a:r>
            <a:endParaRPr lang="en-US" sz="2800" dirty="0"/>
          </a:p>
        </p:txBody>
      </p:sp>
      <p:sp>
        <p:nvSpPr>
          <p:cNvPr id="79" name="Text 75"/>
          <p:cNvSpPr/>
          <p:nvPr/>
        </p:nvSpPr>
        <p:spPr>
          <a:xfrm>
            <a:off x="14310360" y="27242822"/>
            <a:ext cx="11887200" cy="5042204"/>
          </a:xfrm>
          <a:prstGeom prst="rect">
            <a:avLst/>
          </a:prstGeom>
          <a:noFill/>
          <a:ln/>
        </p:spPr>
        <p:txBody>
          <a:bodyPr wrap="square" lIns="0" tIns="0" rIns="0" bIns="0" rtlCol="0" anchor="t"/>
          <a:lstStyle/>
          <a:p>
            <a:pPr marL="177800" indent="-177800" algn="l">
              <a:lnSpc>
                <a:spcPct val="122000"/>
              </a:lnSpc>
              <a:spcAft>
                <a:spcPts val="800"/>
              </a:spcAft>
              <a:buSzPct val="100000"/>
              <a:buChar char="•"/>
            </a:pPr>
            <a:endParaRPr lang="en-US" sz="1800" dirty="0"/>
          </a:p>
        </p:txBody>
      </p:sp>
      <p:sp>
        <p:nvSpPr>
          <p:cNvPr id="80" name="Shape 76"/>
          <p:cNvSpPr/>
          <p:nvPr/>
        </p:nvSpPr>
        <p:spPr>
          <a:xfrm>
            <a:off x="869884" y="35255575"/>
            <a:ext cx="365760" cy="365760"/>
          </a:xfrm>
          <a:prstGeom prst="rect">
            <a:avLst/>
          </a:prstGeom>
          <a:solidFill>
            <a:srgbClr val="6E7D1F"/>
          </a:solidFill>
          <a:ln/>
        </p:spPr>
        <p:txBody>
          <a:bodyPr/>
          <a:lstStyle/>
          <a:p>
            <a:endParaRPr lang="en-US"/>
          </a:p>
        </p:txBody>
      </p:sp>
      <p:sp>
        <p:nvSpPr>
          <p:cNvPr id="81" name="Text 77"/>
          <p:cNvSpPr/>
          <p:nvPr/>
        </p:nvSpPr>
        <p:spPr>
          <a:xfrm>
            <a:off x="1485900" y="35142849"/>
            <a:ext cx="25008840" cy="548640"/>
          </a:xfrm>
          <a:prstGeom prst="rect">
            <a:avLst/>
          </a:prstGeom>
          <a:noFill/>
          <a:ln/>
        </p:spPr>
        <p:txBody>
          <a:bodyPr wrap="square" lIns="0" tIns="0" rIns="0" bIns="0" rtlCol="0" anchor="ctr" anchorCtr="0"/>
          <a:lstStyle/>
          <a:p>
            <a:pPr marL="0" indent="0" algn="l">
              <a:buNone/>
            </a:pPr>
            <a:r>
              <a:rPr lang="en-US" sz="2800" b="1" kern="0" spc="30" dirty="0">
                <a:solidFill>
                  <a:srgbClr val="6B4A2A"/>
                </a:solidFill>
                <a:latin typeface="Cambria" pitchFamily="34" charset="0"/>
                <a:ea typeface="Cambria" pitchFamily="34" charset="-122"/>
                <a:cs typeface="Cambria" pitchFamily="34" charset="-120"/>
              </a:rPr>
              <a:t>AUTHORS &amp; MENTORS</a:t>
            </a:r>
            <a:endParaRPr lang="en-US" sz="2800" dirty="0"/>
          </a:p>
        </p:txBody>
      </p:sp>
      <p:sp>
        <p:nvSpPr>
          <p:cNvPr id="85" name="Text 81"/>
          <p:cNvSpPr/>
          <p:nvPr/>
        </p:nvSpPr>
        <p:spPr>
          <a:xfrm>
            <a:off x="2103120" y="35438455"/>
            <a:ext cx="3928712" cy="1828800"/>
          </a:xfrm>
          <a:prstGeom prst="rect">
            <a:avLst/>
          </a:prstGeom>
          <a:noFill/>
          <a:ln/>
        </p:spPr>
        <p:txBody>
          <a:bodyPr wrap="square" lIns="0" tIns="0" rIns="0" bIns="0" rtlCol="0" anchor="t"/>
          <a:lstStyle/>
          <a:p>
            <a:pPr marL="0" indent="0" algn="l">
              <a:lnSpc>
                <a:spcPct val="120000"/>
              </a:lnSpc>
              <a:buNone/>
            </a:pPr>
            <a:endParaRPr lang="en-US" sz="1900" dirty="0"/>
          </a:p>
        </p:txBody>
      </p:sp>
      <p:sp>
        <p:nvSpPr>
          <p:cNvPr id="88" name="Text 84"/>
          <p:cNvSpPr/>
          <p:nvPr/>
        </p:nvSpPr>
        <p:spPr>
          <a:xfrm>
            <a:off x="10789920" y="35438455"/>
            <a:ext cx="7040880" cy="1828800"/>
          </a:xfrm>
          <a:prstGeom prst="rect">
            <a:avLst/>
          </a:prstGeom>
          <a:noFill/>
          <a:ln/>
        </p:spPr>
        <p:txBody>
          <a:bodyPr wrap="square" lIns="0" tIns="0" rIns="0" bIns="0" rtlCol="0" anchor="t"/>
          <a:lstStyle/>
          <a:p>
            <a:pPr marL="0" indent="0" algn="l">
              <a:lnSpc>
                <a:spcPct val="120000"/>
              </a:lnSpc>
              <a:buNone/>
            </a:pPr>
            <a:endParaRPr lang="en-US" sz="1900" dirty="0"/>
          </a:p>
        </p:txBody>
      </p:sp>
      <p:sp>
        <p:nvSpPr>
          <p:cNvPr id="92" name="Shape 88"/>
          <p:cNvSpPr/>
          <p:nvPr/>
        </p:nvSpPr>
        <p:spPr>
          <a:xfrm>
            <a:off x="0" y="37673280"/>
            <a:ext cx="27432000" cy="3474720"/>
          </a:xfrm>
          <a:prstGeom prst="rect">
            <a:avLst/>
          </a:prstGeom>
          <a:solidFill>
            <a:srgbClr val="6B4A2A"/>
          </a:solidFill>
          <a:ln/>
        </p:spPr>
        <p:txBody>
          <a:bodyPr/>
          <a:lstStyle/>
          <a:p>
            <a:endParaRPr lang="en-US"/>
          </a:p>
        </p:txBody>
      </p:sp>
      <p:sp>
        <p:nvSpPr>
          <p:cNvPr id="93" name="Text 89"/>
          <p:cNvSpPr/>
          <p:nvPr/>
        </p:nvSpPr>
        <p:spPr>
          <a:xfrm>
            <a:off x="685800" y="37974270"/>
            <a:ext cx="12801600" cy="411480"/>
          </a:xfrm>
          <a:prstGeom prst="rect">
            <a:avLst/>
          </a:prstGeom>
          <a:noFill/>
          <a:ln/>
        </p:spPr>
        <p:txBody>
          <a:bodyPr wrap="square" lIns="0" tIns="0" rIns="0" bIns="0" rtlCol="0" anchor="ctr"/>
          <a:lstStyle/>
          <a:p>
            <a:pPr marL="0" indent="0">
              <a:buNone/>
            </a:pPr>
            <a:r>
              <a:rPr lang="en-US" sz="2800" b="1" kern="0" spc="120" dirty="0">
                <a:solidFill>
                  <a:srgbClr val="DACBB0"/>
                </a:solidFill>
                <a:latin typeface="Calibri" pitchFamily="34" charset="0"/>
                <a:ea typeface="Calibri" pitchFamily="34" charset="-122"/>
                <a:cs typeface="Calibri" pitchFamily="34" charset="-120"/>
              </a:rPr>
              <a:t>PROJECT GITHUB REPO</a:t>
            </a:r>
            <a:endParaRPr lang="en-US" sz="2800" dirty="0">
              <a:solidFill>
                <a:srgbClr val="DACBB0"/>
              </a:solidFill>
            </a:endParaRPr>
          </a:p>
        </p:txBody>
      </p:sp>
      <p:sp>
        <p:nvSpPr>
          <p:cNvPr id="94" name="Text 90"/>
          <p:cNvSpPr/>
          <p:nvPr/>
        </p:nvSpPr>
        <p:spPr>
          <a:xfrm>
            <a:off x="1219200" y="38442138"/>
            <a:ext cx="11536680" cy="438912"/>
          </a:xfrm>
          <a:prstGeom prst="rect">
            <a:avLst/>
          </a:prstGeom>
          <a:noFill/>
          <a:ln/>
        </p:spPr>
        <p:txBody>
          <a:bodyPr wrap="square" lIns="0" tIns="0" rIns="0" bIns="0" rtlCol="0" anchor="ctr"/>
          <a:lstStyle/>
          <a:p>
            <a:pPr marL="0" indent="0">
              <a:buNone/>
            </a:pPr>
            <a:r>
              <a:rPr lang="en-US" sz="2800" dirty="0">
                <a:solidFill>
                  <a:schemeClr val="bg1"/>
                </a:solidFill>
                <a:latin typeface="Calibri" pitchFamily="34" charset="0"/>
                <a:ea typeface="Calibri" pitchFamily="34" charset="-122"/>
                <a:cs typeface="Calibri" pitchFamily="34" charset="-120"/>
              </a:rPr>
              <a:t>https://github.com/tanganjohnson-ai/Hackathon-26-Environmental-Science.git</a:t>
            </a:r>
            <a:endParaRPr lang="en-US" sz="2800" dirty="0">
              <a:solidFill>
                <a:schemeClr val="bg1"/>
              </a:solidFill>
            </a:endParaRPr>
          </a:p>
        </p:txBody>
      </p:sp>
      <p:pic>
        <p:nvPicPr>
          <p:cNvPr id="132" name="Picture 131">
            <a:extLst>
              <a:ext uri="{FF2B5EF4-FFF2-40B4-BE49-F238E27FC236}">
                <a16:creationId xmlns:a16="http://schemas.microsoft.com/office/drawing/2014/main" id="{2B7E8A16-E1BE-C2A1-7F9F-389D23DE05F6}"/>
              </a:ext>
            </a:extLst>
          </p:cNvPr>
          <p:cNvPicPr>
            <a:picLocks noChangeAspect="1"/>
          </p:cNvPicPr>
          <p:nvPr/>
        </p:nvPicPr>
        <p:blipFill>
          <a:blip r:embed="rId3"/>
          <a:stretch>
            <a:fillRect/>
          </a:stretch>
        </p:blipFill>
        <p:spPr>
          <a:xfrm>
            <a:off x="20329241" y="32465315"/>
            <a:ext cx="7557973" cy="7557973"/>
          </a:xfrm>
          <a:prstGeom prst="rect">
            <a:avLst/>
          </a:prstGeom>
        </p:spPr>
      </p:pic>
      <p:sp>
        <p:nvSpPr>
          <p:cNvPr id="95" name="Text 91"/>
          <p:cNvSpPr/>
          <p:nvPr/>
        </p:nvSpPr>
        <p:spPr>
          <a:xfrm>
            <a:off x="685800" y="38934390"/>
            <a:ext cx="18745200" cy="548640"/>
          </a:xfrm>
          <a:prstGeom prst="rect">
            <a:avLst/>
          </a:prstGeom>
          <a:noFill/>
          <a:ln/>
        </p:spPr>
        <p:txBody>
          <a:bodyPr wrap="square" lIns="0" tIns="0" rIns="0" bIns="0" rtlCol="0" anchor="ctr"/>
          <a:lstStyle/>
          <a:p>
            <a:pPr marL="0" indent="0">
              <a:buNone/>
            </a:pPr>
            <a:r>
              <a:rPr lang="en-US" sz="2400" dirty="0">
                <a:solidFill>
                  <a:srgbClr val="C9BCA3"/>
                </a:solidFill>
                <a:latin typeface="Calibri" pitchFamily="34" charset="0"/>
                <a:ea typeface="Calibri" pitchFamily="34" charset="-122"/>
                <a:cs typeface="Calibri" pitchFamily="34" charset="-120"/>
              </a:rPr>
              <a:t>Sponsors: SGX3  ·  National Science Foundation  ·  ORNL  ·  </a:t>
            </a:r>
            <a:r>
              <a:rPr lang="en-US" sz="2400" dirty="0" err="1">
                <a:solidFill>
                  <a:srgbClr val="C9BCA3"/>
                </a:solidFill>
                <a:latin typeface="Calibri" pitchFamily="34" charset="0"/>
                <a:ea typeface="Calibri" pitchFamily="34" charset="-122"/>
                <a:cs typeface="Calibri" pitchFamily="34" charset="-120"/>
              </a:rPr>
              <a:t>Omnibond</a:t>
            </a:r>
            <a:r>
              <a:rPr lang="en-US" sz="2400" dirty="0">
                <a:solidFill>
                  <a:srgbClr val="C9BCA3"/>
                </a:solidFill>
                <a:latin typeface="Calibri" pitchFamily="34" charset="0"/>
                <a:ea typeface="Calibri" pitchFamily="34" charset="-122"/>
                <a:cs typeface="Calibri" pitchFamily="34" charset="-120"/>
              </a:rPr>
              <a:t>  ·  TACC  ·  HackHPC</a:t>
            </a:r>
            <a:endParaRPr lang="en-US" sz="2400" dirty="0"/>
          </a:p>
        </p:txBody>
      </p:sp>
      <p:sp>
        <p:nvSpPr>
          <p:cNvPr id="102" name="Rounded Rectangle 101">
            <a:extLst>
              <a:ext uri="{FF2B5EF4-FFF2-40B4-BE49-F238E27FC236}">
                <a16:creationId xmlns:a16="http://schemas.microsoft.com/office/drawing/2014/main" id="{2BFFB601-E1CE-E3E6-5A51-4EEE60F8D9D6}"/>
              </a:ext>
            </a:extLst>
          </p:cNvPr>
          <p:cNvSpPr/>
          <p:nvPr/>
        </p:nvSpPr>
        <p:spPr>
          <a:xfrm>
            <a:off x="145143" y="246743"/>
            <a:ext cx="5355771" cy="3017665"/>
          </a:xfrm>
          <a:prstGeom prst="roundRect">
            <a:avLst/>
          </a:prstGeom>
          <a:solidFill>
            <a:schemeClr val="bg1"/>
          </a:solidFill>
          <a:ln w="5715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a:extLst>
              <a:ext uri="{FF2B5EF4-FFF2-40B4-BE49-F238E27FC236}">
                <a16:creationId xmlns:a16="http://schemas.microsoft.com/office/drawing/2014/main" id="{9EBF381E-CFBD-4F06-FA02-91B6137AFBBB}"/>
              </a:ext>
            </a:extLst>
          </p:cNvPr>
          <p:cNvPicPr>
            <a:picLocks noChangeAspect="1"/>
          </p:cNvPicPr>
          <p:nvPr/>
        </p:nvPicPr>
        <p:blipFill>
          <a:blip r:embed="rId4"/>
          <a:stretch>
            <a:fillRect/>
          </a:stretch>
        </p:blipFill>
        <p:spPr>
          <a:xfrm>
            <a:off x="498739" y="281635"/>
            <a:ext cx="4671975" cy="2627986"/>
          </a:xfrm>
          <a:prstGeom prst="rect">
            <a:avLst/>
          </a:prstGeom>
        </p:spPr>
      </p:pic>
      <p:sp>
        <p:nvSpPr>
          <p:cNvPr id="103" name="Rounded Rectangle 102">
            <a:extLst>
              <a:ext uri="{FF2B5EF4-FFF2-40B4-BE49-F238E27FC236}">
                <a16:creationId xmlns:a16="http://schemas.microsoft.com/office/drawing/2014/main" id="{5D223258-495F-4ED0-21C7-B41C8F3834E0}"/>
              </a:ext>
            </a:extLst>
          </p:cNvPr>
          <p:cNvSpPr/>
          <p:nvPr/>
        </p:nvSpPr>
        <p:spPr>
          <a:xfrm>
            <a:off x="16897350" y="38004750"/>
            <a:ext cx="10188666" cy="2994975"/>
          </a:xfrm>
          <a:prstGeom prst="roundRect">
            <a:avLst/>
          </a:prstGeom>
          <a:solidFill>
            <a:srgbClr val="FFFFFF"/>
          </a:solidFill>
          <a:ln w="5715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 94"/>
          <p:cNvSpPr/>
          <p:nvPr/>
        </p:nvSpPr>
        <p:spPr>
          <a:xfrm>
            <a:off x="17373600" y="40146638"/>
            <a:ext cx="6762750" cy="594360"/>
          </a:xfrm>
          <a:prstGeom prst="rect">
            <a:avLst/>
          </a:prstGeom>
          <a:noFill/>
          <a:ln/>
        </p:spPr>
        <p:txBody>
          <a:bodyPr wrap="square" lIns="0" tIns="0" rIns="0" bIns="0" rtlCol="0" anchor="ctr" anchorCtr="0"/>
          <a:lstStyle/>
          <a:p>
            <a:pPr marL="0" indent="0" algn="r">
              <a:lnSpc>
                <a:spcPct val="120000"/>
              </a:lnSpc>
              <a:buNone/>
            </a:pPr>
            <a:r>
              <a:rPr lang="en-US" sz="2400" dirty="0" err="1">
                <a:latin typeface="Consolas" panose="020B0609020204030204" pitchFamily="49" charset="0"/>
                <a:ea typeface="Calibri" pitchFamily="34" charset="-122"/>
                <a:cs typeface="Consolas" panose="020B0609020204030204" pitchFamily="49" charset="0"/>
              </a:rPr>
              <a:t>hackhpc.github.io</a:t>
            </a:r>
            <a:r>
              <a:rPr lang="en-US" sz="2400" dirty="0">
                <a:latin typeface="Consolas" panose="020B0609020204030204" pitchFamily="49" charset="0"/>
                <a:ea typeface="Calibri" pitchFamily="34" charset="-122"/>
                <a:cs typeface="Consolas" panose="020B0609020204030204" pitchFamily="49" charset="0"/>
              </a:rPr>
              <a:t>/facultyhack-gateways26</a:t>
            </a:r>
            <a:endParaRPr lang="en-US" sz="2400" dirty="0">
              <a:latin typeface="Consolas" panose="020B0609020204030204" pitchFamily="49" charset="0"/>
              <a:cs typeface="Consolas" panose="020B0609020204030204" pitchFamily="49" charset="0"/>
            </a:endParaRPr>
          </a:p>
        </p:txBody>
      </p:sp>
      <p:pic>
        <p:nvPicPr>
          <p:cNvPr id="97" name="Image 0" descr="/home/claude/poster/assets/event_qr.png"/>
          <p:cNvPicPr>
            <a:picLocks noChangeAspect="1"/>
          </p:cNvPicPr>
          <p:nvPr/>
        </p:nvPicPr>
        <p:blipFill>
          <a:blip r:embed="rId5"/>
          <a:stretch>
            <a:fillRect/>
          </a:stretch>
        </p:blipFill>
        <p:spPr>
          <a:xfrm>
            <a:off x="24269700" y="38246151"/>
            <a:ext cx="2495550" cy="2495550"/>
          </a:xfrm>
          <a:prstGeom prst="rect">
            <a:avLst/>
          </a:prstGeom>
        </p:spPr>
      </p:pic>
      <p:pic>
        <p:nvPicPr>
          <p:cNvPr id="106" name="Picture 105">
            <a:extLst>
              <a:ext uri="{FF2B5EF4-FFF2-40B4-BE49-F238E27FC236}">
                <a16:creationId xmlns:a16="http://schemas.microsoft.com/office/drawing/2014/main" id="{BFAA7CBD-BA2A-BE48-1367-95A441E6C885}"/>
              </a:ext>
            </a:extLst>
          </p:cNvPr>
          <p:cNvPicPr>
            <a:picLocks noChangeAspect="1"/>
          </p:cNvPicPr>
          <p:nvPr/>
        </p:nvPicPr>
        <p:blipFill>
          <a:blip r:embed="rId6"/>
          <a:stretch>
            <a:fillRect/>
          </a:stretch>
        </p:blipFill>
        <p:spPr>
          <a:xfrm>
            <a:off x="17038320" y="38176201"/>
            <a:ext cx="7744090" cy="2070202"/>
          </a:xfrm>
          <a:prstGeom prst="rect">
            <a:avLst/>
          </a:prstGeom>
        </p:spPr>
      </p:pic>
      <p:pic>
        <p:nvPicPr>
          <p:cNvPr id="118" name="Graphic 117">
            <a:extLst>
              <a:ext uri="{FF2B5EF4-FFF2-40B4-BE49-F238E27FC236}">
                <a16:creationId xmlns:a16="http://schemas.microsoft.com/office/drawing/2014/main" id="{66911063-24C3-366F-ECF4-6D5CC54EA63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418542" y="692206"/>
            <a:ext cx="1310610" cy="1310610"/>
          </a:xfrm>
          <a:prstGeom prst="rect">
            <a:avLst/>
          </a:prstGeom>
        </p:spPr>
      </p:pic>
      <p:sp>
        <p:nvSpPr>
          <p:cNvPr id="127" name="Rounded Rectangle 126">
            <a:extLst>
              <a:ext uri="{FF2B5EF4-FFF2-40B4-BE49-F238E27FC236}">
                <a16:creationId xmlns:a16="http://schemas.microsoft.com/office/drawing/2014/main" id="{E6411B07-84E9-624F-0716-29C0D60F67A0}"/>
              </a:ext>
            </a:extLst>
          </p:cNvPr>
          <p:cNvSpPr/>
          <p:nvPr/>
        </p:nvSpPr>
        <p:spPr>
          <a:xfrm>
            <a:off x="552450" y="39528750"/>
            <a:ext cx="13239750" cy="1390650"/>
          </a:xfrm>
          <a:prstGeom prst="roundRect">
            <a:avLst/>
          </a:prstGeom>
          <a:solidFill>
            <a:srgbClr val="FFFFFF"/>
          </a:solidFill>
          <a:ln w="3810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id="{42D05EC9-5BDF-BA7D-A67A-D2576C37846F}"/>
              </a:ext>
            </a:extLst>
          </p:cNvPr>
          <p:cNvSpPr txBox="1"/>
          <p:nvPr/>
        </p:nvSpPr>
        <p:spPr>
          <a:xfrm>
            <a:off x="24715694" y="2057262"/>
            <a:ext cx="2716306" cy="738664"/>
          </a:xfrm>
          <a:prstGeom prst="rect">
            <a:avLst/>
          </a:prstGeom>
          <a:noFill/>
        </p:spPr>
        <p:txBody>
          <a:bodyPr wrap="square" rtlCol="0">
            <a:spAutoFit/>
          </a:bodyPr>
          <a:lstStyle/>
          <a:p>
            <a:pPr algn="ctr"/>
            <a:r>
              <a:rPr lang="en-US" dirty="0">
                <a:solidFill>
                  <a:srgbClr val="F7E8C9"/>
                </a:solidFill>
              </a:rPr>
              <a:t>SGX3 is funded by the </a:t>
            </a:r>
            <a:br>
              <a:rPr lang="en-US" dirty="0">
                <a:solidFill>
                  <a:srgbClr val="F7E8C9"/>
                </a:solidFill>
              </a:rPr>
            </a:br>
            <a:r>
              <a:rPr lang="en-US" dirty="0">
                <a:solidFill>
                  <a:srgbClr val="F7E8C9"/>
                </a:solidFill>
              </a:rPr>
              <a:t>National Science Foundation </a:t>
            </a:r>
            <a:br>
              <a:rPr lang="en-US" dirty="0">
                <a:solidFill>
                  <a:srgbClr val="F7E8C9"/>
                </a:solidFill>
              </a:rPr>
            </a:br>
            <a:r>
              <a:rPr lang="en-US" dirty="0">
                <a:solidFill>
                  <a:srgbClr val="F7E8C9"/>
                </a:solidFill>
              </a:rPr>
              <a:t>under award number 2231406.</a:t>
            </a:r>
          </a:p>
        </p:txBody>
      </p:sp>
      <p:pic>
        <p:nvPicPr>
          <p:cNvPr id="126" name="Graphic 125" descr="File:Octicons-mark-github.svg - Wikimedia Commons">
            <a:extLst>
              <a:ext uri="{FF2B5EF4-FFF2-40B4-BE49-F238E27FC236}">
                <a16:creationId xmlns:a16="http://schemas.microsoft.com/office/drawing/2014/main" id="{2DEDB063-5C22-682E-DADA-F43E2F9AA0B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80314" y="38401417"/>
            <a:ext cx="462686" cy="462686"/>
          </a:xfrm>
          <a:prstGeom prst="rect">
            <a:avLst/>
          </a:prstGeom>
        </p:spPr>
      </p:pic>
      <p:grpSp>
        <p:nvGrpSpPr>
          <p:cNvPr id="129" name="Group 128">
            <a:extLst>
              <a:ext uri="{FF2B5EF4-FFF2-40B4-BE49-F238E27FC236}">
                <a16:creationId xmlns:a16="http://schemas.microsoft.com/office/drawing/2014/main" id="{F065583D-A13E-F341-15DB-8AF39BE705FB}"/>
              </a:ext>
            </a:extLst>
          </p:cNvPr>
          <p:cNvGrpSpPr/>
          <p:nvPr/>
        </p:nvGrpSpPr>
        <p:grpSpPr>
          <a:xfrm>
            <a:off x="967531" y="39862760"/>
            <a:ext cx="12447689" cy="951231"/>
            <a:chOff x="1268311" y="39757350"/>
            <a:chExt cx="12447689" cy="951231"/>
          </a:xfrm>
        </p:grpSpPr>
        <p:pic>
          <p:nvPicPr>
            <p:cNvPr id="122" name="Google Shape;70;p15">
              <a:extLst>
                <a:ext uri="{FF2B5EF4-FFF2-40B4-BE49-F238E27FC236}">
                  <a16:creationId xmlns:a16="http://schemas.microsoft.com/office/drawing/2014/main" id="{42242A5D-5C93-F783-0BBE-B9F048051AB4}"/>
                </a:ext>
              </a:extLst>
            </p:cNvPr>
            <p:cNvPicPr preferRelativeResize="0"/>
            <p:nvPr/>
          </p:nvPicPr>
          <p:blipFill rotWithShape="1">
            <a:blip r:embed="rId9">
              <a:alphaModFix/>
            </a:blip>
            <a:srcRect/>
            <a:stretch/>
          </p:blipFill>
          <p:spPr>
            <a:xfrm>
              <a:off x="1268311" y="39757350"/>
              <a:ext cx="2604093" cy="777756"/>
            </a:xfrm>
            <a:prstGeom prst="rect">
              <a:avLst/>
            </a:prstGeom>
            <a:noFill/>
            <a:ln>
              <a:noFill/>
            </a:ln>
          </p:spPr>
        </p:pic>
        <p:pic>
          <p:nvPicPr>
            <p:cNvPr id="123" name="Google Shape;71;p15" descr="A green and white logo&#10;&#10;Description automatically generated">
              <a:extLst>
                <a:ext uri="{FF2B5EF4-FFF2-40B4-BE49-F238E27FC236}">
                  <a16:creationId xmlns:a16="http://schemas.microsoft.com/office/drawing/2014/main" id="{7B7A9E83-521F-8B2F-3F26-C296686CE75B}"/>
                </a:ext>
              </a:extLst>
            </p:cNvPr>
            <p:cNvPicPr preferRelativeResize="0"/>
            <p:nvPr/>
          </p:nvPicPr>
          <p:blipFill rotWithShape="1">
            <a:blip r:embed="rId10">
              <a:alphaModFix/>
            </a:blip>
            <a:srcRect/>
            <a:stretch/>
          </p:blipFill>
          <p:spPr>
            <a:xfrm>
              <a:off x="3979096" y="39757350"/>
              <a:ext cx="1851047" cy="951231"/>
            </a:xfrm>
            <a:prstGeom prst="rect">
              <a:avLst/>
            </a:prstGeom>
            <a:noFill/>
            <a:ln>
              <a:noFill/>
            </a:ln>
          </p:spPr>
        </p:pic>
        <p:pic>
          <p:nvPicPr>
            <p:cNvPr id="124" name="Google Shape;72;p15" descr="A blue and orange logo&#10;&#10;Description automatically generated">
              <a:extLst>
                <a:ext uri="{FF2B5EF4-FFF2-40B4-BE49-F238E27FC236}">
                  <a16:creationId xmlns:a16="http://schemas.microsoft.com/office/drawing/2014/main" id="{96B11CD3-5471-BCC6-4E1D-9968793C45CE}"/>
                </a:ext>
              </a:extLst>
            </p:cNvPr>
            <p:cNvPicPr preferRelativeResize="0"/>
            <p:nvPr/>
          </p:nvPicPr>
          <p:blipFill rotWithShape="1">
            <a:blip r:embed="rId11">
              <a:alphaModFix/>
            </a:blip>
            <a:srcRect/>
            <a:stretch/>
          </p:blipFill>
          <p:spPr>
            <a:xfrm>
              <a:off x="5936835" y="39757350"/>
              <a:ext cx="2781357" cy="797386"/>
            </a:xfrm>
            <a:prstGeom prst="rect">
              <a:avLst/>
            </a:prstGeom>
            <a:noFill/>
            <a:ln>
              <a:noFill/>
            </a:ln>
          </p:spPr>
        </p:pic>
        <p:pic>
          <p:nvPicPr>
            <p:cNvPr id="125" name="Google Shape;73;p15">
              <a:extLst>
                <a:ext uri="{FF2B5EF4-FFF2-40B4-BE49-F238E27FC236}">
                  <a16:creationId xmlns:a16="http://schemas.microsoft.com/office/drawing/2014/main" id="{2978B803-2680-4763-B377-778745434AC3}"/>
                </a:ext>
              </a:extLst>
            </p:cNvPr>
            <p:cNvPicPr preferRelativeResize="0"/>
            <p:nvPr/>
          </p:nvPicPr>
          <p:blipFill rotWithShape="1">
            <a:blip r:embed="rId12">
              <a:alphaModFix/>
            </a:blip>
            <a:srcRect/>
            <a:stretch/>
          </p:blipFill>
          <p:spPr>
            <a:xfrm>
              <a:off x="8824884" y="39757350"/>
              <a:ext cx="2036696" cy="797386"/>
            </a:xfrm>
            <a:prstGeom prst="rect">
              <a:avLst/>
            </a:prstGeom>
            <a:noFill/>
            <a:ln>
              <a:noFill/>
            </a:ln>
          </p:spPr>
        </p:pic>
        <p:pic>
          <p:nvPicPr>
            <p:cNvPr id="128" name="Graphic 127" descr="HackHPC">
              <a:extLst>
                <a:ext uri="{FF2B5EF4-FFF2-40B4-BE49-F238E27FC236}">
                  <a16:creationId xmlns:a16="http://schemas.microsoft.com/office/drawing/2014/main" id="{13516288-4EB2-5F78-7005-2E07A80CF58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968274" y="39757350"/>
              <a:ext cx="2747726" cy="735998"/>
            </a:xfrm>
            <a:prstGeom prst="rect">
              <a:avLst/>
            </a:prstGeom>
          </p:spPr>
        </p:pic>
      </p:grpSp>
      <p:sp>
        <p:nvSpPr>
          <p:cNvPr id="65" name="TextBox 64">
            <a:extLst>
              <a:ext uri="{FF2B5EF4-FFF2-40B4-BE49-F238E27FC236}">
                <a16:creationId xmlns:a16="http://schemas.microsoft.com/office/drawing/2014/main" id="{1E28D7B7-E2A1-4A51-EA5B-8487F2933293}"/>
              </a:ext>
            </a:extLst>
          </p:cNvPr>
          <p:cNvSpPr txBox="1"/>
          <p:nvPr/>
        </p:nvSpPr>
        <p:spPr>
          <a:xfrm>
            <a:off x="802363" y="8715913"/>
            <a:ext cx="8736701" cy="1754326"/>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cs typeface="Times New Roman" panose="02020603050405020304" pitchFamily="18" charset="0"/>
              </a:rPr>
              <a:t>UFOR 271: Environmental Science connects foundational environmental science with authentic South Louisiana environmental challenges. The redesign integrates browser-based science gateways, reproducible Jupyter notebook workflows, geospatial data, and a collaborative Course-based Undergraduate Research Experience (CURE). Computational tools are used selectively where they deepen investigation and analysis while minimizing unnecessary technical barrier.</a:t>
            </a:r>
          </a:p>
        </p:txBody>
      </p:sp>
      <p:sp>
        <p:nvSpPr>
          <p:cNvPr id="67" name="TextBox 66">
            <a:extLst>
              <a:ext uri="{FF2B5EF4-FFF2-40B4-BE49-F238E27FC236}">
                <a16:creationId xmlns:a16="http://schemas.microsoft.com/office/drawing/2014/main" id="{684CD7A3-FD8F-3886-5635-3B876C754C42}"/>
              </a:ext>
            </a:extLst>
          </p:cNvPr>
          <p:cNvSpPr txBox="1"/>
          <p:nvPr/>
        </p:nvSpPr>
        <p:spPr>
          <a:xfrm>
            <a:off x="869884" y="14415562"/>
            <a:ext cx="8274116" cy="2193830"/>
          </a:xfrm>
          <a:prstGeom prst="rect">
            <a:avLst/>
          </a:prstGeom>
          <a:noFill/>
          <a:ln/>
        </p:spPr>
        <p:txBody>
          <a:bodyPr wrap="square" lIns="0" tIns="0" rIns="0" bIns="0" rtlCol="0" anchor="t"/>
          <a:lstStyle>
            <a:lvl1pPr marL="285750" lvl="0" indent="-285750">
              <a:buFont typeface="Arial" panose="020B0604020202020204" pitchFamily="34" charset="0"/>
              <a:buChar char="•"/>
              <a:defRPr b="1">
                <a:latin typeface="Times New Roman" panose="02020603050405020304" pitchFamily="18" charset="0"/>
                <a:cs typeface="Times New Roman" panose="02020603050405020304" pitchFamily="18" charset="0"/>
              </a:defRPr>
            </a:lvl1pPr>
          </a:lstStyle>
          <a:p>
            <a:r>
              <a:rPr lang="en-US" dirty="0">
                <a:latin typeface="Cambria" panose="02040503050406030204" pitchFamily="18" charset="0"/>
                <a:ea typeface="Cambria" panose="02040503050406030204" pitchFamily="18" charset="0"/>
              </a:rPr>
              <a:t>Formative Assessments : 200 points (40%): </a:t>
            </a:r>
            <a:r>
              <a:rPr lang="en-US" b="0" dirty="0">
                <a:latin typeface="Cambria" panose="02040503050406030204" pitchFamily="18" charset="0"/>
                <a:ea typeface="Cambria" panose="02040503050406030204" pitchFamily="18" charset="0"/>
              </a:rPr>
              <a:t>OER reading checks; environmental field journal; four environmental-data/gateway activities; five CURE milestones; participation.</a:t>
            </a:r>
          </a:p>
          <a:p>
            <a:r>
              <a:rPr lang="en-US" dirty="0">
                <a:latin typeface="Cambria" panose="02040503050406030204" pitchFamily="18" charset="0"/>
                <a:ea typeface="Cambria" panose="02040503050406030204" pitchFamily="18" charset="0"/>
              </a:rPr>
              <a:t>Summative Assessments — 300 points (60%):</a:t>
            </a:r>
            <a:r>
              <a:rPr lang="en-US" b="0" dirty="0">
                <a:latin typeface="Cambria" panose="02040503050406030204" pitchFamily="18" charset="0"/>
                <a:ea typeface="Cambria" panose="02040503050406030204" pitchFamily="18" charset="0"/>
              </a:rPr>
              <a:t> Environmental Systems Exam (50); Decision-Making Case + AI-use appendix (50); CURE Research Report (75); Scientific Poster &amp; Presentation (50); Community Environmental Product (25);</a:t>
            </a:r>
            <a:r>
              <a:rPr lang="en-US" dirty="0">
                <a:latin typeface="Cambria" panose="02040503050406030204" pitchFamily="18" charset="0"/>
                <a:ea typeface="Cambria" panose="02040503050406030204" pitchFamily="18" charset="0"/>
              </a:rPr>
              <a:t> </a:t>
            </a:r>
            <a:r>
              <a:rPr lang="en-US" b="0" dirty="0">
                <a:latin typeface="Cambria" panose="02040503050406030204" pitchFamily="18" charset="0"/>
                <a:ea typeface="Cambria" panose="02040503050406030204" pitchFamily="18" charset="0"/>
              </a:rPr>
              <a:t>Final Environmental Solutions Assessment (50).</a:t>
            </a:r>
          </a:p>
          <a:p>
            <a:r>
              <a:rPr lang="en-US" dirty="0">
                <a:latin typeface="Cambria" panose="02040503050406030204" pitchFamily="18" charset="0"/>
                <a:ea typeface="Cambria" panose="02040503050406030204" pitchFamily="18" charset="0"/>
              </a:rPr>
              <a:t>Grading Scale: A = </a:t>
            </a:r>
            <a:r>
              <a:rPr lang="en-US" b="0" dirty="0">
                <a:latin typeface="Cambria" panose="02040503050406030204" pitchFamily="18" charset="0"/>
                <a:ea typeface="Cambria" panose="02040503050406030204" pitchFamily="18" charset="0"/>
              </a:rPr>
              <a:t>450–500</a:t>
            </a:r>
            <a:r>
              <a:rPr lang="en-US" dirty="0">
                <a:latin typeface="Cambria" panose="02040503050406030204" pitchFamily="18" charset="0"/>
                <a:ea typeface="Cambria" panose="02040503050406030204" pitchFamily="18" charset="0"/>
              </a:rPr>
              <a:t> · B = </a:t>
            </a:r>
            <a:r>
              <a:rPr lang="en-US" b="0" dirty="0">
                <a:latin typeface="Cambria" panose="02040503050406030204" pitchFamily="18" charset="0"/>
                <a:ea typeface="Cambria" panose="02040503050406030204" pitchFamily="18" charset="0"/>
              </a:rPr>
              <a:t>400–449</a:t>
            </a:r>
            <a:r>
              <a:rPr lang="en-US" dirty="0">
                <a:latin typeface="Cambria" panose="02040503050406030204" pitchFamily="18" charset="0"/>
                <a:ea typeface="Cambria" panose="02040503050406030204" pitchFamily="18" charset="0"/>
              </a:rPr>
              <a:t> · C = </a:t>
            </a:r>
            <a:r>
              <a:rPr lang="en-US" b="0" dirty="0">
                <a:latin typeface="Cambria" panose="02040503050406030204" pitchFamily="18" charset="0"/>
                <a:ea typeface="Cambria" panose="02040503050406030204" pitchFamily="18" charset="0"/>
              </a:rPr>
              <a:t>350–399</a:t>
            </a:r>
            <a:r>
              <a:rPr lang="en-US" dirty="0">
                <a:latin typeface="Cambria" panose="02040503050406030204" pitchFamily="18" charset="0"/>
                <a:ea typeface="Cambria" panose="02040503050406030204" pitchFamily="18" charset="0"/>
              </a:rPr>
              <a:t> · D = </a:t>
            </a:r>
            <a:r>
              <a:rPr lang="en-US" b="0" dirty="0">
                <a:latin typeface="Cambria" panose="02040503050406030204" pitchFamily="18" charset="0"/>
                <a:ea typeface="Cambria" panose="02040503050406030204" pitchFamily="18" charset="0"/>
              </a:rPr>
              <a:t>300–349</a:t>
            </a:r>
            <a:r>
              <a:rPr lang="en-US" dirty="0">
                <a:latin typeface="Cambria" panose="02040503050406030204" pitchFamily="18" charset="0"/>
                <a:ea typeface="Cambria" panose="02040503050406030204" pitchFamily="18" charset="0"/>
              </a:rPr>
              <a:t> · F = </a:t>
            </a:r>
            <a:r>
              <a:rPr lang="en-US" b="0" dirty="0">
                <a:latin typeface="Cambria" panose="02040503050406030204" pitchFamily="18" charset="0"/>
                <a:ea typeface="Cambria" panose="02040503050406030204" pitchFamily="18" charset="0"/>
              </a:rPr>
              <a:t>below 300.</a:t>
            </a:r>
          </a:p>
        </p:txBody>
      </p:sp>
      <p:sp>
        <p:nvSpPr>
          <p:cNvPr id="109" name="TextBox 108">
            <a:extLst>
              <a:ext uri="{FF2B5EF4-FFF2-40B4-BE49-F238E27FC236}">
                <a16:creationId xmlns:a16="http://schemas.microsoft.com/office/drawing/2014/main" id="{2E0057CC-1F83-2B2A-057C-85624A737C1B}"/>
              </a:ext>
            </a:extLst>
          </p:cNvPr>
          <p:cNvSpPr txBox="1"/>
          <p:nvPr/>
        </p:nvSpPr>
        <p:spPr>
          <a:xfrm>
            <a:off x="18290509" y="16818801"/>
            <a:ext cx="8181674" cy="2308324"/>
          </a:xfrm>
          <a:prstGeom prst="rect">
            <a:avLst/>
          </a:prstGeom>
          <a:noFill/>
        </p:spPr>
        <p:txBody>
          <a:bodyPr wrap="square">
            <a:spAutoFit/>
          </a:bodyPr>
          <a:lstStyle/>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cs typeface="Times New Roman" panose="02020603050405020304" pitchFamily="18" charset="0"/>
              </a:rPr>
              <a:t>Collect, document, manage, visualize, and interpret authentic environmental data.</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cs typeface="Times New Roman" panose="02020603050405020304" pitchFamily="18" charset="0"/>
              </a:rPr>
              <a:t>Conduct collaborative environmental research using responsible and reproducible practices.</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cs typeface="Times New Roman" panose="02020603050405020304" pitchFamily="18" charset="0"/>
              </a:rPr>
              <a:t>Evaluate evidence, uncertainty, environmental risk, and equity.</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cs typeface="Times New Roman" panose="02020603050405020304" pitchFamily="18" charset="0"/>
              </a:rPr>
              <a:t>Communicate findings to scientific, professional, and community audiences.</a:t>
            </a:r>
          </a:p>
          <a:p>
            <a:pPr marL="285750" indent="-285750">
              <a:buFont typeface="Arial" panose="020B0604020202020204" pitchFamily="34" charset="0"/>
              <a:buChar char="•"/>
            </a:pPr>
            <a:r>
              <a:rPr lang="en-US" dirty="0">
                <a:latin typeface="Cambria" panose="02040503050406030204" pitchFamily="18" charset="0"/>
                <a:ea typeface="Cambria" panose="02040503050406030204" pitchFamily="18" charset="0"/>
                <a:cs typeface="Times New Roman" panose="02020603050405020304" pitchFamily="18" charset="0"/>
              </a:rPr>
              <a:t>Propose an evidence-based and equitable response to a South Louisiana environmental challenge.</a:t>
            </a:r>
          </a:p>
        </p:txBody>
      </p:sp>
      <p:sp>
        <p:nvSpPr>
          <p:cNvPr id="111" name="TextBox 110">
            <a:extLst>
              <a:ext uri="{FF2B5EF4-FFF2-40B4-BE49-F238E27FC236}">
                <a16:creationId xmlns:a16="http://schemas.microsoft.com/office/drawing/2014/main" id="{7FF43964-7129-A344-2499-B443BF4B8BE3}"/>
              </a:ext>
            </a:extLst>
          </p:cNvPr>
          <p:cNvSpPr txBox="1"/>
          <p:nvPr/>
        </p:nvSpPr>
        <p:spPr>
          <a:xfrm>
            <a:off x="18257082" y="20192227"/>
            <a:ext cx="8508168" cy="2308324"/>
          </a:xfrm>
          <a:prstGeom prst="rect">
            <a:avLst/>
          </a:prstGeom>
          <a:noFill/>
        </p:spPr>
        <p:txBody>
          <a:bodyPr wrap="square">
            <a:spAutoFit/>
          </a:bodyPr>
          <a:lstStyle/>
          <a:p>
            <a:r>
              <a:rPr lang="en-US" b="1" dirty="0">
                <a:latin typeface="Cambria" panose="02040503050406030204" pitchFamily="18" charset="0"/>
                <a:ea typeface="Cambria" panose="02040503050406030204" pitchFamily="18" charset="0"/>
                <a:cs typeface="Times New Roman" panose="02020603050405020304" pitchFamily="18" charset="0"/>
              </a:rPr>
              <a:t>New Topics &amp; Datasets: </a:t>
            </a:r>
            <a:r>
              <a:rPr lang="en-US" dirty="0">
                <a:latin typeface="Cambria" panose="02040503050406030204" pitchFamily="18" charset="0"/>
                <a:ea typeface="Cambria" panose="02040503050406030204" pitchFamily="18" charset="0"/>
                <a:cs typeface="Times New Roman" panose="02020603050405020304" pitchFamily="18" charset="0"/>
              </a:rPr>
              <a:t>Extend the CURE framework to additional environmental-resilience questions and datasets, including soil contamination.</a:t>
            </a:r>
          </a:p>
          <a:p>
            <a:r>
              <a:rPr lang="en-US" b="1" dirty="0">
                <a:latin typeface="Cambria" panose="02040503050406030204" pitchFamily="18" charset="0"/>
                <a:ea typeface="Cambria" panose="02040503050406030204" pitchFamily="18" charset="0"/>
                <a:cs typeface="Times New Roman" panose="02020603050405020304" pitchFamily="18" charset="0"/>
              </a:rPr>
              <a:t>Follow-on Opportunities</a:t>
            </a:r>
            <a:r>
              <a:rPr lang="en-US" dirty="0">
                <a:latin typeface="Cambria" panose="02040503050406030204" pitchFamily="18" charset="0"/>
                <a:ea typeface="Cambria" panose="02040503050406030204" pitchFamily="18" charset="0"/>
                <a:cs typeface="Times New Roman" panose="02020603050405020304" pitchFamily="18" charset="0"/>
              </a:rPr>
              <a:t>: Introduce advanced geospatial tools such as Google Earth Engine/</a:t>
            </a:r>
            <a:r>
              <a:rPr lang="en-US" dirty="0" err="1">
                <a:latin typeface="Cambria" panose="02040503050406030204" pitchFamily="18" charset="0"/>
                <a:ea typeface="Cambria" panose="02040503050406030204" pitchFamily="18" charset="0"/>
                <a:cs typeface="Times New Roman" panose="02020603050405020304" pitchFamily="18" charset="0"/>
              </a:rPr>
              <a:t>geemap</a:t>
            </a:r>
            <a:r>
              <a:rPr lang="en-US" dirty="0">
                <a:latin typeface="Cambria" panose="02040503050406030204" pitchFamily="18" charset="0"/>
                <a:ea typeface="Cambria" panose="02040503050406030204" pitchFamily="18" charset="0"/>
                <a:cs typeface="Times New Roman" panose="02020603050405020304" pitchFamily="18" charset="0"/>
              </a:rPr>
              <a:t> and connect the experience to upper-level Urban Forestry research electives.</a:t>
            </a:r>
          </a:p>
          <a:p>
            <a:r>
              <a:rPr lang="en-US" b="1" dirty="0">
                <a:latin typeface="Cambria" panose="02040503050406030204" pitchFamily="18" charset="0"/>
                <a:ea typeface="Cambria" panose="02040503050406030204" pitchFamily="18" charset="0"/>
                <a:cs typeface="Times New Roman" panose="02020603050405020304" pitchFamily="18" charset="0"/>
              </a:rPr>
              <a:t>Community Partnerships: </a:t>
            </a:r>
            <a:r>
              <a:rPr lang="en-US" dirty="0">
                <a:latin typeface="Cambria" panose="02040503050406030204" pitchFamily="18" charset="0"/>
                <a:ea typeface="Cambria" panose="02040503050406030204" pitchFamily="18" charset="0"/>
                <a:cs typeface="Times New Roman" panose="02020603050405020304" pitchFamily="18" charset="0"/>
              </a:rPr>
              <a:t>Develop partnerships with Baton Rouge resilience organizations and municipal planning agencies to strengthen public dissemination of student environmental products.</a:t>
            </a:r>
          </a:p>
        </p:txBody>
      </p:sp>
      <p:sp>
        <p:nvSpPr>
          <p:cNvPr id="113" name="TextBox 112">
            <a:extLst>
              <a:ext uri="{FF2B5EF4-FFF2-40B4-BE49-F238E27FC236}">
                <a16:creationId xmlns:a16="http://schemas.microsoft.com/office/drawing/2014/main" id="{C745A4E6-144E-2D3E-AD4D-D2F76412F4A7}"/>
              </a:ext>
            </a:extLst>
          </p:cNvPr>
          <p:cNvSpPr txBox="1"/>
          <p:nvPr/>
        </p:nvSpPr>
        <p:spPr>
          <a:xfrm>
            <a:off x="2083587" y="36206162"/>
            <a:ext cx="5491659" cy="1200329"/>
          </a:xfrm>
          <a:prstGeom prst="rect">
            <a:avLst/>
          </a:prstGeom>
          <a:noFill/>
        </p:spPr>
        <p:txBody>
          <a:bodyPr wrap="square">
            <a:spAutoFit/>
          </a:bodyPr>
          <a:lstStyle/>
          <a:p>
            <a:r>
              <a:rPr lang="en-US" dirty="0"/>
              <a:t>Tanganika Johnson, Ph.D.</a:t>
            </a:r>
          </a:p>
          <a:p>
            <a:r>
              <a:rPr lang="en-US" dirty="0"/>
              <a:t> Faculty Participant</a:t>
            </a:r>
          </a:p>
          <a:p>
            <a:r>
              <a:rPr lang="en-US" dirty="0"/>
              <a:t>Southern University and A&amp;M College</a:t>
            </a:r>
          </a:p>
          <a:p>
            <a:r>
              <a:rPr lang="en-US" dirty="0"/>
              <a:t>Tanganika.johnson@sus.edu</a:t>
            </a:r>
          </a:p>
        </p:txBody>
      </p:sp>
      <p:sp>
        <p:nvSpPr>
          <p:cNvPr id="115" name="TextBox 114">
            <a:extLst>
              <a:ext uri="{FF2B5EF4-FFF2-40B4-BE49-F238E27FC236}">
                <a16:creationId xmlns:a16="http://schemas.microsoft.com/office/drawing/2014/main" id="{009B4523-C984-E94F-2BD3-D9C62FF92245}"/>
              </a:ext>
            </a:extLst>
          </p:cNvPr>
          <p:cNvSpPr txBox="1"/>
          <p:nvPr/>
        </p:nvSpPr>
        <p:spPr>
          <a:xfrm>
            <a:off x="10667494" y="36198631"/>
            <a:ext cx="5103226" cy="1200329"/>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Mohammed Elmellouki, Ph.D. </a:t>
            </a:r>
          </a:p>
          <a:p>
            <a:r>
              <a:rPr lang="en-US" dirty="0">
                <a:latin typeface="Cambria" panose="02040503050406030204" pitchFamily="18" charset="0"/>
                <a:ea typeface="Cambria" panose="02040503050406030204" pitchFamily="18" charset="0"/>
              </a:rPr>
              <a:t>Faculty Mentor  </a:t>
            </a:r>
          </a:p>
          <a:p>
            <a:r>
              <a:rPr lang="en-US" dirty="0">
                <a:latin typeface="Cambria" panose="02040503050406030204" pitchFamily="18" charset="0"/>
                <a:ea typeface="Cambria" panose="02040503050406030204" pitchFamily="18" charset="0"/>
              </a:rPr>
              <a:t>Mississippi Valley State University</a:t>
            </a:r>
          </a:p>
          <a:p>
            <a:r>
              <a:rPr lang="en-US" dirty="0">
                <a:latin typeface="Cambria" panose="02040503050406030204" pitchFamily="18" charset="0"/>
                <a:ea typeface="Cambria" panose="02040503050406030204" pitchFamily="18" charset="0"/>
              </a:rPr>
              <a:t>mohammed.Elmellouki@mvsu.edu</a:t>
            </a:r>
          </a:p>
        </p:txBody>
      </p:sp>
      <p:sp>
        <p:nvSpPr>
          <p:cNvPr id="4" name="TextBox 3">
            <a:extLst>
              <a:ext uri="{FF2B5EF4-FFF2-40B4-BE49-F238E27FC236}">
                <a16:creationId xmlns:a16="http://schemas.microsoft.com/office/drawing/2014/main" id="{03FB5DE1-6468-EB98-9684-57126411863D}"/>
              </a:ext>
            </a:extLst>
          </p:cNvPr>
          <p:cNvSpPr txBox="1"/>
          <p:nvPr/>
        </p:nvSpPr>
        <p:spPr>
          <a:xfrm>
            <a:off x="9601200" y="8619856"/>
            <a:ext cx="8229600" cy="2585323"/>
          </a:xfrm>
          <a:prstGeom prst="rect">
            <a:avLst/>
          </a:prstGeom>
          <a:noFill/>
        </p:spPr>
        <p:txBody>
          <a:bodyPr wrap="square">
            <a:spAutoFit/>
          </a:bodyPr>
          <a:lstStyle/>
          <a:p>
            <a:r>
              <a:rPr lang="en-US" b="1" dirty="0">
                <a:latin typeface="Cambria" panose="02040503050406030204" pitchFamily="18" charset="0"/>
                <a:ea typeface="Cambria" panose="02040503050406030204" pitchFamily="18" charset="0"/>
                <a:cs typeface="Times New Roman" panose="02020603050405020304" pitchFamily="18" charset="0"/>
              </a:rPr>
              <a:t>Course Name: </a:t>
            </a:r>
            <a:r>
              <a:rPr lang="en-US" dirty="0">
                <a:latin typeface="Cambria" panose="02040503050406030204" pitchFamily="18" charset="0"/>
                <a:ea typeface="Cambria" panose="02040503050406030204" pitchFamily="18" charset="0"/>
                <a:cs typeface="Times New Roman" panose="02020603050405020304" pitchFamily="18" charset="0"/>
              </a:rPr>
              <a:t>Environmental Science (From the Bluff to the Bayou)</a:t>
            </a:r>
          </a:p>
          <a:p>
            <a:r>
              <a:rPr lang="en-US" b="1" dirty="0">
                <a:latin typeface="Cambria" panose="02040503050406030204" pitchFamily="18" charset="0"/>
                <a:ea typeface="Cambria" panose="02040503050406030204" pitchFamily="18" charset="0"/>
                <a:cs typeface="Times New Roman" panose="02020603050405020304" pitchFamily="18" charset="0"/>
              </a:rPr>
              <a:t>Course Number</a:t>
            </a:r>
            <a:r>
              <a:rPr lang="en-US" dirty="0">
                <a:latin typeface="Cambria" panose="02040503050406030204" pitchFamily="18" charset="0"/>
                <a:ea typeface="Cambria" panose="02040503050406030204" pitchFamily="18" charset="0"/>
                <a:cs typeface="Times New Roman" panose="02020603050405020304" pitchFamily="18" charset="0"/>
              </a:rPr>
              <a:t>: UFOR 271</a:t>
            </a:r>
          </a:p>
          <a:p>
            <a:r>
              <a:rPr lang="en-US" b="1" dirty="0">
                <a:latin typeface="Cambria" panose="02040503050406030204" pitchFamily="18" charset="0"/>
                <a:ea typeface="Cambria" panose="02040503050406030204" pitchFamily="18" charset="0"/>
                <a:cs typeface="Times New Roman" panose="02020603050405020304" pitchFamily="18" charset="0"/>
              </a:rPr>
              <a:t>Department</a:t>
            </a:r>
            <a:r>
              <a:rPr lang="en-US" dirty="0">
                <a:latin typeface="Cambria" panose="02040503050406030204" pitchFamily="18" charset="0"/>
                <a:ea typeface="Cambria" panose="02040503050406030204" pitchFamily="18" charset="0"/>
                <a:cs typeface="Times New Roman" panose="02020603050405020304" pitchFamily="18" charset="0"/>
              </a:rPr>
              <a:t>: Urban Forestry</a:t>
            </a:r>
          </a:p>
          <a:p>
            <a:r>
              <a:rPr lang="en-US" b="1" dirty="0">
                <a:latin typeface="Cambria" panose="02040503050406030204" pitchFamily="18" charset="0"/>
                <a:ea typeface="Cambria" panose="02040503050406030204" pitchFamily="18" charset="0"/>
                <a:cs typeface="Times New Roman" panose="02020603050405020304" pitchFamily="18" charset="0"/>
              </a:rPr>
              <a:t>Enrollment</a:t>
            </a:r>
            <a:r>
              <a:rPr lang="en-US" dirty="0">
                <a:latin typeface="Cambria" panose="02040503050406030204" pitchFamily="18" charset="0"/>
                <a:ea typeface="Cambria" panose="02040503050406030204" pitchFamily="18" charset="0"/>
                <a:cs typeface="Times New Roman" panose="02020603050405020304" pitchFamily="18" charset="0"/>
              </a:rPr>
              <a:t>: 10–15 students</a:t>
            </a:r>
          </a:p>
          <a:p>
            <a:r>
              <a:rPr lang="en-US" b="1" dirty="0">
                <a:latin typeface="Cambria" panose="02040503050406030204" pitchFamily="18" charset="0"/>
                <a:ea typeface="Cambria" panose="02040503050406030204" pitchFamily="18" charset="0"/>
                <a:cs typeface="Times New Roman" panose="02020603050405020304" pitchFamily="18" charset="0"/>
              </a:rPr>
              <a:t>Prerequisite: </a:t>
            </a:r>
            <a:r>
              <a:rPr lang="en-US" dirty="0">
                <a:latin typeface="Cambria" panose="02040503050406030204" pitchFamily="18" charset="0"/>
                <a:ea typeface="Cambria" panose="02040503050406030204" pitchFamily="18" charset="0"/>
                <a:cs typeface="Times New Roman" panose="02020603050405020304" pitchFamily="18" charset="0"/>
              </a:rPr>
              <a:t>SBIO 101B</a:t>
            </a:r>
          </a:p>
          <a:p>
            <a:r>
              <a:rPr lang="en-US" b="1" dirty="0">
                <a:latin typeface="Cambria" panose="02040503050406030204" pitchFamily="18" charset="0"/>
                <a:ea typeface="Cambria" panose="02040503050406030204" pitchFamily="18" charset="0"/>
                <a:cs typeface="Times New Roman" panose="02020603050405020304" pitchFamily="18" charset="0"/>
              </a:rPr>
              <a:t>Credit / Contact: </a:t>
            </a:r>
            <a:r>
              <a:rPr lang="en-US" dirty="0">
                <a:latin typeface="Cambria" panose="02040503050406030204" pitchFamily="18" charset="0"/>
                <a:ea typeface="Cambria" panose="02040503050406030204" pitchFamily="18" charset="0"/>
                <a:cs typeface="Times New Roman" panose="02020603050405020304" pitchFamily="18" charset="0"/>
              </a:rPr>
              <a:t>3 credit hours · Lecture 2 </a:t>
            </a:r>
            <a:r>
              <a:rPr lang="en-US" dirty="0" err="1">
                <a:latin typeface="Cambria" panose="02040503050406030204" pitchFamily="18" charset="0"/>
                <a:ea typeface="Cambria" panose="02040503050406030204" pitchFamily="18" charset="0"/>
                <a:cs typeface="Times New Roman" panose="02020603050405020304" pitchFamily="18" charset="0"/>
              </a:rPr>
              <a:t>hrs</a:t>
            </a:r>
            <a:r>
              <a:rPr lang="en-US" dirty="0">
                <a:latin typeface="Cambria" panose="02040503050406030204" pitchFamily="18" charset="0"/>
                <a:ea typeface="Cambria" panose="02040503050406030204" pitchFamily="18" charset="0"/>
                <a:cs typeface="Times New Roman" panose="02020603050405020304" pitchFamily="18" charset="0"/>
              </a:rPr>
              <a:t> · Laboratory/field 2 </a:t>
            </a:r>
            <a:r>
              <a:rPr lang="en-US" dirty="0" err="1">
                <a:latin typeface="Cambria" panose="02040503050406030204" pitchFamily="18" charset="0"/>
                <a:ea typeface="Cambria" panose="02040503050406030204" pitchFamily="18" charset="0"/>
                <a:cs typeface="Times New Roman" panose="02020603050405020304" pitchFamily="18" charset="0"/>
              </a:rPr>
              <a:t>hrs</a:t>
            </a:r>
            <a:endParaRPr lang="en-US" dirty="0">
              <a:latin typeface="Cambria" panose="02040503050406030204" pitchFamily="18" charset="0"/>
              <a:ea typeface="Cambria" panose="02040503050406030204" pitchFamily="18" charset="0"/>
              <a:cs typeface="Times New Roman" panose="02020603050405020304" pitchFamily="18" charset="0"/>
            </a:endParaRPr>
          </a:p>
          <a:p>
            <a:r>
              <a:rPr lang="en-US" b="1" dirty="0">
                <a:latin typeface="Cambria" panose="02040503050406030204" pitchFamily="18" charset="0"/>
                <a:ea typeface="Cambria" panose="02040503050406030204" pitchFamily="18" charset="0"/>
                <a:cs typeface="Times New Roman" panose="02020603050405020304" pitchFamily="18" charset="0"/>
              </a:rPr>
              <a:t>Computing Environment</a:t>
            </a:r>
            <a:r>
              <a:rPr lang="en-US" dirty="0">
                <a:latin typeface="Cambria" panose="02040503050406030204" pitchFamily="18" charset="0"/>
                <a:ea typeface="Cambria" panose="02040503050406030204" pitchFamily="18" charset="0"/>
                <a:cs typeface="Times New Roman" panose="02020603050405020304" pitchFamily="18" charset="0"/>
              </a:rPr>
              <a:t>: ACCESS </a:t>
            </a:r>
            <a:r>
              <a:rPr lang="en-US" dirty="0" err="1">
                <a:latin typeface="Cambria" panose="02040503050406030204" pitchFamily="18" charset="0"/>
                <a:ea typeface="Cambria" panose="02040503050406030204" pitchFamily="18" charset="0"/>
                <a:cs typeface="Times New Roman" panose="02020603050405020304" pitchFamily="18" charset="0"/>
              </a:rPr>
              <a:t>CloudBank</a:t>
            </a:r>
            <a:r>
              <a:rPr lang="en-US" dirty="0">
                <a:latin typeface="Cambria" panose="02040503050406030204" pitchFamily="18" charset="0"/>
                <a:ea typeface="Cambria" panose="02040503050406030204" pitchFamily="18" charset="0"/>
                <a:cs typeface="Times New Roman" panose="02020603050405020304" pitchFamily="18" charset="0"/>
              </a:rPr>
              <a:t> Classroom</a:t>
            </a:r>
          </a:p>
          <a:p>
            <a:r>
              <a:rPr lang="en-US" b="1" dirty="0">
                <a:latin typeface="Cambria" panose="02040503050406030204" pitchFamily="18" charset="0"/>
                <a:ea typeface="Cambria" panose="02040503050406030204" pitchFamily="18" charset="0"/>
                <a:cs typeface="Times New Roman" panose="02020603050405020304" pitchFamily="18" charset="0"/>
              </a:rPr>
              <a:t>Project Repo: </a:t>
            </a:r>
            <a:r>
              <a:rPr lang="en-US" dirty="0">
                <a:latin typeface="Cambria" panose="02040503050406030204" pitchFamily="18" charset="0"/>
                <a:ea typeface="Cambria" panose="02040503050406030204" pitchFamily="18" charset="0"/>
                <a:cs typeface="Times New Roman" panose="02020603050405020304" pitchFamily="18" charset="0"/>
              </a:rPr>
              <a:t>https://github.com/tanganjohnson-ai/Hackathon-26-Environmental-Science.git</a:t>
            </a:r>
          </a:p>
        </p:txBody>
      </p:sp>
      <p:pic>
        <p:nvPicPr>
          <p:cNvPr id="16" name="Picture 15">
            <a:extLst>
              <a:ext uri="{FF2B5EF4-FFF2-40B4-BE49-F238E27FC236}">
                <a16:creationId xmlns:a16="http://schemas.microsoft.com/office/drawing/2014/main" id="{FB91BFB5-ACC4-3282-3BA1-B786A4F52D5E}"/>
              </a:ext>
            </a:extLst>
          </p:cNvPr>
          <p:cNvPicPr>
            <a:picLocks noChangeAspect="1"/>
          </p:cNvPicPr>
          <p:nvPr/>
        </p:nvPicPr>
        <p:blipFill>
          <a:blip r:embed="rId14"/>
          <a:stretch>
            <a:fillRect/>
          </a:stretch>
        </p:blipFill>
        <p:spPr>
          <a:xfrm>
            <a:off x="685800" y="26060558"/>
            <a:ext cx="11887200" cy="8915400"/>
          </a:xfrm>
          <a:prstGeom prst="rect">
            <a:avLst/>
          </a:prstGeom>
        </p:spPr>
      </p:pic>
      <p:pic>
        <p:nvPicPr>
          <p:cNvPr id="61" name="Picture 60">
            <a:extLst>
              <a:ext uri="{FF2B5EF4-FFF2-40B4-BE49-F238E27FC236}">
                <a16:creationId xmlns:a16="http://schemas.microsoft.com/office/drawing/2014/main" id="{0350BC15-1DBD-E85B-E9B2-09EE3AEE2B95}"/>
              </a:ext>
            </a:extLst>
          </p:cNvPr>
          <p:cNvPicPr>
            <a:picLocks noChangeAspect="1"/>
          </p:cNvPicPr>
          <p:nvPr/>
        </p:nvPicPr>
        <p:blipFill>
          <a:blip r:embed="rId15"/>
          <a:stretch>
            <a:fillRect/>
          </a:stretch>
        </p:blipFill>
        <p:spPr>
          <a:xfrm>
            <a:off x="9569888" y="14080680"/>
            <a:ext cx="8229600" cy="4482116"/>
          </a:xfrm>
          <a:prstGeom prst="rect">
            <a:avLst/>
          </a:prstGeom>
        </p:spPr>
      </p:pic>
      <p:pic>
        <p:nvPicPr>
          <p:cNvPr id="66" name="Picture 65">
            <a:extLst>
              <a:ext uri="{FF2B5EF4-FFF2-40B4-BE49-F238E27FC236}">
                <a16:creationId xmlns:a16="http://schemas.microsoft.com/office/drawing/2014/main" id="{2DCA84F3-D157-9FB8-1858-DC7264DD28D8}"/>
              </a:ext>
            </a:extLst>
          </p:cNvPr>
          <p:cNvPicPr>
            <a:picLocks noChangeAspect="1"/>
          </p:cNvPicPr>
          <p:nvPr/>
        </p:nvPicPr>
        <p:blipFill>
          <a:blip r:embed="rId16"/>
          <a:stretch>
            <a:fillRect/>
          </a:stretch>
        </p:blipFill>
        <p:spPr>
          <a:xfrm>
            <a:off x="18013680" y="8953662"/>
            <a:ext cx="9144000" cy="6858000"/>
          </a:xfrm>
          <a:prstGeom prst="rect">
            <a:avLst/>
          </a:prstGeom>
        </p:spPr>
      </p:pic>
      <p:pic>
        <p:nvPicPr>
          <p:cNvPr id="5" name="Picture 4">
            <a:extLst>
              <a:ext uri="{FF2B5EF4-FFF2-40B4-BE49-F238E27FC236}">
                <a16:creationId xmlns:a16="http://schemas.microsoft.com/office/drawing/2014/main" id="{FCE7A51F-4DBD-A657-1631-FE069E5009AD}"/>
              </a:ext>
            </a:extLst>
          </p:cNvPr>
          <p:cNvPicPr>
            <a:picLocks noChangeAspect="1"/>
          </p:cNvPicPr>
          <p:nvPr/>
        </p:nvPicPr>
        <p:blipFill>
          <a:blip r:embed="rId17"/>
          <a:stretch>
            <a:fillRect/>
          </a:stretch>
        </p:blipFill>
        <p:spPr>
          <a:xfrm>
            <a:off x="9469989" y="19593025"/>
            <a:ext cx="8229600" cy="6172200"/>
          </a:xfrm>
          <a:prstGeom prst="rect">
            <a:avLst/>
          </a:prstGeom>
        </p:spPr>
      </p:pic>
      <p:pic>
        <p:nvPicPr>
          <p:cNvPr id="25" name="Picture 24">
            <a:extLst>
              <a:ext uri="{FF2B5EF4-FFF2-40B4-BE49-F238E27FC236}">
                <a16:creationId xmlns:a16="http://schemas.microsoft.com/office/drawing/2014/main" id="{01C332A6-675B-343E-4004-56DDC18575E0}"/>
              </a:ext>
            </a:extLst>
          </p:cNvPr>
          <p:cNvPicPr>
            <a:picLocks noChangeAspect="1"/>
          </p:cNvPicPr>
          <p:nvPr/>
        </p:nvPicPr>
        <p:blipFill>
          <a:blip r:embed="rId18"/>
          <a:stretch>
            <a:fillRect/>
          </a:stretch>
        </p:blipFill>
        <p:spPr>
          <a:xfrm>
            <a:off x="14655466" y="26143961"/>
            <a:ext cx="11887200" cy="8915400"/>
          </a:xfrm>
          <a:prstGeom prst="rect">
            <a:avLst/>
          </a:prstGeom>
        </p:spPr>
      </p:pic>
      <p:pic>
        <p:nvPicPr>
          <p:cNvPr id="30" name="Picture 29">
            <a:extLst>
              <a:ext uri="{FF2B5EF4-FFF2-40B4-BE49-F238E27FC236}">
                <a16:creationId xmlns:a16="http://schemas.microsoft.com/office/drawing/2014/main" id="{C35DB040-D725-39EE-F211-D0519C570957}"/>
              </a:ext>
            </a:extLst>
          </p:cNvPr>
          <p:cNvPicPr>
            <a:picLocks noChangeAspect="1"/>
          </p:cNvPicPr>
          <p:nvPr/>
        </p:nvPicPr>
        <p:blipFill>
          <a:blip r:embed="rId19"/>
          <a:stretch>
            <a:fillRect/>
          </a:stretch>
        </p:blipFill>
        <p:spPr>
          <a:xfrm>
            <a:off x="8268183" y="35775467"/>
            <a:ext cx="1828800" cy="1828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20" name="Picture 19">
            <a:extLst>
              <a:ext uri="{FF2B5EF4-FFF2-40B4-BE49-F238E27FC236}">
                <a16:creationId xmlns:a16="http://schemas.microsoft.com/office/drawing/2014/main" id="{E94A103A-E2B0-7578-359C-10021269DD07}"/>
              </a:ext>
            </a:extLst>
          </p:cNvPr>
          <p:cNvPicPr>
            <a:picLocks noChangeAspect="1"/>
          </p:cNvPicPr>
          <p:nvPr/>
        </p:nvPicPr>
        <p:blipFill>
          <a:blip r:embed="rId20"/>
          <a:stretch>
            <a:fillRect/>
          </a:stretch>
        </p:blipFill>
        <p:spPr>
          <a:xfrm>
            <a:off x="135263" y="35797645"/>
            <a:ext cx="1828801" cy="182880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1407</Words>
  <Application>Microsoft Office PowerPoint</Application>
  <PresentationFormat>Custom</PresentationFormat>
  <Paragraphs>81</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Cambria</vt:lpstr>
      <vt:lpstr>Consolas</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TANGANIKA JOHNSON</cp:lastModifiedBy>
  <cp:revision>8</cp:revision>
  <dcterms:created xsi:type="dcterms:W3CDTF">2026-07-31T15:08:06Z</dcterms:created>
  <dcterms:modified xsi:type="dcterms:W3CDTF">2026-09-21T00:55:48Z</dcterms:modified>
</cp:coreProperties>
</file>